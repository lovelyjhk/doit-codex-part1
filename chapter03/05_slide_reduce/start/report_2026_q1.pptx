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15cbf10ae481e" /><Relationship Type="http://schemas.openxmlformats.org/officeDocument/2006/relationships/extended-properties" Target="/docProps/app.xml" Id="R7025bc1755794794" /><Relationship Type="http://schemas.openxmlformats.org/officeDocument/2006/relationships/officeDocument" Target="/ppt/presentation.xml" Id="Rcc3dfd778668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2ec4ddf1f411e"/>
  </p:sldMasterIdLst>
  <p:notesMasterIdLst>
    <p:notesMasterId xmlns:r="http://schemas.openxmlformats.org/officeDocument/2006/relationships" r:id="R909cbb966eda4a7a"/>
  </p:notesMasterIdLst>
  <p:sldIdLst>
    <p:sldId xmlns:r="http://schemas.openxmlformats.org/officeDocument/2006/relationships" id="256" r:id="R8322be2781374150"/>
    <p:sldId xmlns:r="http://schemas.openxmlformats.org/officeDocument/2006/relationships" id="257" r:id="R269f1000d6a54f3a"/>
    <p:sldId xmlns:r="http://schemas.openxmlformats.org/officeDocument/2006/relationships" id="258" r:id="R450a0e3f7bfd4e7b"/>
    <p:sldId xmlns:r="http://schemas.openxmlformats.org/officeDocument/2006/relationships" id="259" r:id="R6980375ecf0f40fb"/>
    <p:sldId xmlns:r="http://schemas.openxmlformats.org/officeDocument/2006/relationships" id="260" r:id="Ra3508350e39242ac"/>
    <p:sldId xmlns:r="http://schemas.openxmlformats.org/officeDocument/2006/relationships" id="261" r:id="R88c58f2062a14cd4"/>
    <p:sldId xmlns:r="http://schemas.openxmlformats.org/officeDocument/2006/relationships" id="262" r:id="Rad6d21ba946e41ca"/>
    <p:sldId xmlns:r="http://schemas.openxmlformats.org/officeDocument/2006/relationships" id="263" r:id="R9ba9618c8bd34ecd"/>
    <p:sldId xmlns:r="http://schemas.openxmlformats.org/officeDocument/2006/relationships" id="264" r:id="Rb195f069876342c1"/>
    <p:sldId xmlns:r="http://schemas.openxmlformats.org/officeDocument/2006/relationships" id="265" r:id="R0055fe7539534824"/>
    <p:sldId xmlns:r="http://schemas.openxmlformats.org/officeDocument/2006/relationships" id="266" r:id="R0b07d0f0ab514fa3"/>
    <p:sldId xmlns:r="http://schemas.openxmlformats.org/officeDocument/2006/relationships" id="267" r:id="R2b76f9ca4fa847ce"/>
    <p:sldId xmlns:r="http://schemas.openxmlformats.org/officeDocument/2006/relationships" id="268" r:id="Re1370054873641f8"/>
    <p:sldId xmlns:r="http://schemas.openxmlformats.org/officeDocument/2006/relationships" id="269" r:id="R88a29c29862a4fe5"/>
    <p:sldId xmlns:r="http://schemas.openxmlformats.org/officeDocument/2006/relationships" id="270" r:id="Rf86d91217e1c411c"/>
    <p:sldId xmlns:r="http://schemas.openxmlformats.org/officeDocument/2006/relationships" id="271" r:id="R2ed35444da7f4914"/>
    <p:sldId xmlns:r="http://schemas.openxmlformats.org/officeDocument/2006/relationships" id="272" r:id="R717d1e4067dc497c"/>
    <p:sldId xmlns:r="http://schemas.openxmlformats.org/officeDocument/2006/relationships" id="273" r:id="R36349b2519ea4111"/>
    <p:sldId xmlns:r="http://schemas.openxmlformats.org/officeDocument/2006/relationships" id="274" r:id="R6e6a7e996fbf446e"/>
    <p:sldId xmlns:r="http://schemas.openxmlformats.org/officeDocument/2006/relationships" id="275" r:id="Rb9ff8bdabf254d27"/>
    <p:sldId xmlns:r="http://schemas.openxmlformats.org/officeDocument/2006/relationships" id="276" r:id="Rf7784fe28c0c450e"/>
    <p:sldId xmlns:r="http://schemas.openxmlformats.org/officeDocument/2006/relationships" id="277" r:id="R6528896d020a4678"/>
    <p:sldId xmlns:r="http://schemas.openxmlformats.org/officeDocument/2006/relationships" id="278" r:id="R74be6c99f165436b"/>
    <p:sldId xmlns:r="http://schemas.openxmlformats.org/officeDocument/2006/relationships" id="279" r:id="R36b264e5c88e418e"/>
    <p:sldId xmlns:r="http://schemas.openxmlformats.org/officeDocument/2006/relationships" id="280" r:id="R730a18afb1354ec1"/>
    <p:sldId xmlns:r="http://schemas.openxmlformats.org/officeDocument/2006/relationships" id="281" r:id="Rbfc2c3cc30ba4f55"/>
    <p:sldId xmlns:r="http://schemas.openxmlformats.org/officeDocument/2006/relationships" id="282" r:id="Rf7d86f57e92446cb"/>
    <p:sldId xmlns:r="http://schemas.openxmlformats.org/officeDocument/2006/relationships" id="283" r:id="Rfaa5c7a947a144c5"/>
    <p:sldId xmlns:r="http://schemas.openxmlformats.org/officeDocument/2006/relationships" id="284" r:id="R2fa4201fe0be4a87"/>
    <p:sldId xmlns:r="http://schemas.openxmlformats.org/officeDocument/2006/relationships" id="285" r:id="R67ee1914b54b4d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38649921c48cf" /><Relationship Type="http://schemas.openxmlformats.org/officeDocument/2006/relationships/slideMaster" Target="/ppt/slideMasters/slideMaster1.xml" Id="R5502ec4ddf1f411e" /><Relationship Type="http://schemas.openxmlformats.org/officeDocument/2006/relationships/notesMaster" Target="/ppt/notesMasters/notesMaster1.xml" Id="R909cbb966eda4a7a" /><Relationship Type="http://schemas.openxmlformats.org/officeDocument/2006/relationships/presProps" Target="/ppt/presProps.xml" Id="R2feae712893b4e7c" /><Relationship Type="http://schemas.openxmlformats.org/officeDocument/2006/relationships/tableStyles" Target="/ppt/tableStyles.xml" Id="Rae22a13d47ac4b97" /><Relationship Type="http://schemas.openxmlformats.org/officeDocument/2006/relationships/slide" Target="/ppt/slides/slide1.xml" Id="R8322be2781374150" /><Relationship Type="http://schemas.openxmlformats.org/officeDocument/2006/relationships/slide" Target="/ppt/slides/slide2.xml" Id="R269f1000d6a54f3a" /><Relationship Type="http://schemas.openxmlformats.org/officeDocument/2006/relationships/slide" Target="/ppt/slides/slide3.xml" Id="R450a0e3f7bfd4e7b" /><Relationship Type="http://schemas.openxmlformats.org/officeDocument/2006/relationships/slide" Target="/ppt/slides/slide4.xml" Id="R6980375ecf0f40fb" /><Relationship Type="http://schemas.openxmlformats.org/officeDocument/2006/relationships/slide" Target="/ppt/slides/slide5.xml" Id="Ra3508350e39242ac" /><Relationship Type="http://schemas.openxmlformats.org/officeDocument/2006/relationships/slide" Target="/ppt/slides/slide6.xml" Id="R88c58f2062a14cd4" /><Relationship Type="http://schemas.openxmlformats.org/officeDocument/2006/relationships/slide" Target="/ppt/slides/slide7.xml" Id="Rad6d21ba946e41ca" /><Relationship Type="http://schemas.openxmlformats.org/officeDocument/2006/relationships/slide" Target="/ppt/slides/slide8.xml" Id="R9ba9618c8bd34ecd" /><Relationship Type="http://schemas.openxmlformats.org/officeDocument/2006/relationships/slide" Target="/ppt/slides/slide9.xml" Id="Rb195f069876342c1" /><Relationship Type="http://schemas.openxmlformats.org/officeDocument/2006/relationships/slide" Target="/ppt/slides/slide10.xml" Id="R0055fe7539534824" /><Relationship Type="http://schemas.openxmlformats.org/officeDocument/2006/relationships/slide" Target="/ppt/slides/slide11.xml" Id="R0b07d0f0ab514fa3" /><Relationship Type="http://schemas.openxmlformats.org/officeDocument/2006/relationships/slide" Target="/ppt/slides/slide12.xml" Id="R2b76f9ca4fa847ce" /><Relationship Type="http://schemas.openxmlformats.org/officeDocument/2006/relationships/slide" Target="/ppt/slides/slide13.xml" Id="Re1370054873641f8" /><Relationship Type="http://schemas.openxmlformats.org/officeDocument/2006/relationships/slide" Target="/ppt/slides/slide14.xml" Id="R88a29c29862a4fe5" /><Relationship Type="http://schemas.openxmlformats.org/officeDocument/2006/relationships/slide" Target="/ppt/slides/slide15.xml" Id="Rf86d91217e1c411c" /><Relationship Type="http://schemas.openxmlformats.org/officeDocument/2006/relationships/slide" Target="/ppt/slides/slide16.xml" Id="R2ed35444da7f4914" /><Relationship Type="http://schemas.openxmlformats.org/officeDocument/2006/relationships/slide" Target="/ppt/slides/slide17.xml" Id="R717d1e4067dc497c" /><Relationship Type="http://schemas.openxmlformats.org/officeDocument/2006/relationships/slide" Target="/ppt/slides/slide18.xml" Id="R36349b2519ea4111" /><Relationship Type="http://schemas.openxmlformats.org/officeDocument/2006/relationships/slide" Target="/ppt/slides/slide19.xml" Id="R6e6a7e996fbf446e" /><Relationship Type="http://schemas.openxmlformats.org/officeDocument/2006/relationships/slide" Target="/ppt/slides/slide20.xml" Id="Rb9ff8bdabf254d27" /><Relationship Type="http://schemas.openxmlformats.org/officeDocument/2006/relationships/slide" Target="/ppt/slides/slide21.xml" Id="Rf7784fe28c0c450e" /><Relationship Type="http://schemas.openxmlformats.org/officeDocument/2006/relationships/slide" Target="/ppt/slides/slide22.xml" Id="R6528896d020a4678" /><Relationship Type="http://schemas.openxmlformats.org/officeDocument/2006/relationships/slide" Target="/ppt/slides/slide23.xml" Id="R74be6c99f165436b" /><Relationship Type="http://schemas.openxmlformats.org/officeDocument/2006/relationships/slide" Target="/ppt/slides/slide24.xml" Id="R36b264e5c88e418e" /><Relationship Type="http://schemas.openxmlformats.org/officeDocument/2006/relationships/slide" Target="/ppt/slides/slide25.xml" Id="R730a18afb1354ec1" /><Relationship Type="http://schemas.openxmlformats.org/officeDocument/2006/relationships/slide" Target="/ppt/slides/slide26.xml" Id="Rbfc2c3cc30ba4f55" /><Relationship Type="http://schemas.openxmlformats.org/officeDocument/2006/relationships/slide" Target="/ppt/slides/slide27.xml" Id="Rf7d86f57e92446cb" /><Relationship Type="http://schemas.openxmlformats.org/officeDocument/2006/relationships/slide" Target="/ppt/slides/slide28.xml" Id="Rfaa5c7a947a144c5" /><Relationship Type="http://schemas.openxmlformats.org/officeDocument/2006/relationships/slide" Target="/ppt/slides/slide29.xml" Id="R2fa4201fe0be4a87" /><Relationship Type="http://schemas.openxmlformats.org/officeDocument/2006/relationships/slide" Target="/ppt/slides/slide30.xml" Id="R67ee1914b54b4d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fd993ba3246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33748610f94d5d" /><Relationship Type="http://schemas.openxmlformats.org/officeDocument/2006/relationships/notesMaster" Target="/ppt/notesMasters/notesMaster1.xml" Id="R9fa82e3014e44f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6b5778828b406e" /><Relationship Type="http://schemas.openxmlformats.org/officeDocument/2006/relationships/notesMaster" Target="/ppt/notesMasters/notesMaster1.xml" Id="R6cc9d77983764f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17824c6e9446e" /><Relationship Type="http://schemas.openxmlformats.org/officeDocument/2006/relationships/notesMaster" Target="/ppt/notesMasters/notesMaster1.xml" Id="R695ace9a6b3e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8d1dfcc5c4498c" /><Relationship Type="http://schemas.openxmlformats.org/officeDocument/2006/relationships/notesMaster" Target="/ppt/notesMasters/notesMaster1.xml" Id="R5ee6045a2bc049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397feb7ca4f60" /><Relationship Type="http://schemas.openxmlformats.org/officeDocument/2006/relationships/notesMaster" Target="/ppt/notesMasters/notesMaster1.xml" Id="R1004ac37077741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63df10efe44ce" /><Relationship Type="http://schemas.openxmlformats.org/officeDocument/2006/relationships/notesMaster" Target="/ppt/notesMasters/notesMaster1.xml" Id="Rf9c7b4240081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7fc09c0be42fe" /><Relationship Type="http://schemas.openxmlformats.org/officeDocument/2006/relationships/notesMaster" Target="/ppt/notesMasters/notesMaster1.xml" Id="R3a30e807b6c1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3d7746c7a34feb" /><Relationship Type="http://schemas.openxmlformats.org/officeDocument/2006/relationships/notesMaster" Target="/ppt/notesMasters/notesMaster1.xml" Id="R8de08b09031241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06ae00c08f4c8d" /><Relationship Type="http://schemas.openxmlformats.org/officeDocument/2006/relationships/notesMaster" Target="/ppt/notesMasters/notesMaster1.xml" Id="Re34b3afb961543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ba5ad9116e4f69" /><Relationship Type="http://schemas.openxmlformats.org/officeDocument/2006/relationships/notesMaster" Target="/ppt/notesMasters/notesMaster1.xml" Id="R291420fc0cd7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04e6db402b472f" /><Relationship Type="http://schemas.openxmlformats.org/officeDocument/2006/relationships/notesMaster" Target="/ppt/notesMasters/notesMaster1.xml" Id="Rf96423b394a94e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9edc7f259460f" /><Relationship Type="http://schemas.openxmlformats.org/officeDocument/2006/relationships/notesMaster" Target="/ppt/notesMasters/notesMaster1.xml" Id="Rcd4d4f05548f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53ebf7ddfc4262" /><Relationship Type="http://schemas.openxmlformats.org/officeDocument/2006/relationships/notesMaster" Target="/ppt/notesMasters/notesMaster1.xml" Id="R1484a03971d649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142ae728494b1f" /><Relationship Type="http://schemas.openxmlformats.org/officeDocument/2006/relationships/notesMaster" Target="/ppt/notesMasters/notesMaster1.xml" Id="Rad3ee2f4c43140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38e61823954246" /><Relationship Type="http://schemas.openxmlformats.org/officeDocument/2006/relationships/notesMaster" Target="/ppt/notesMasters/notesMaster1.xml" Id="R2cc0429af5c1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df0e412d504189" /><Relationship Type="http://schemas.openxmlformats.org/officeDocument/2006/relationships/notesMaster" Target="/ppt/notesMasters/notesMaster1.xml" Id="Rabad75e5db9d46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11afc184254447" /><Relationship Type="http://schemas.openxmlformats.org/officeDocument/2006/relationships/notesMaster" Target="/ppt/notesMasters/notesMaster1.xml" Id="R3f1f79c3024c45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2d63f597a1461c" /><Relationship Type="http://schemas.openxmlformats.org/officeDocument/2006/relationships/notesMaster" Target="/ppt/notesMasters/notesMaster1.xml" Id="R8934af6cf74c49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a791d59ddf4fb5" /><Relationship Type="http://schemas.openxmlformats.org/officeDocument/2006/relationships/notesMaster" Target="/ppt/notesMasters/notesMaster1.xml" Id="R6452146563b247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6be2044e9f4370" /><Relationship Type="http://schemas.openxmlformats.org/officeDocument/2006/relationships/notesMaster" Target="/ppt/notesMasters/notesMaster1.xml" Id="R70dc8a5f80fb48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29816cbf17403c" /><Relationship Type="http://schemas.openxmlformats.org/officeDocument/2006/relationships/notesMaster" Target="/ppt/notesMasters/notesMaster1.xml" Id="R8e3143e2fdc346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caf16d447242f1" /><Relationship Type="http://schemas.openxmlformats.org/officeDocument/2006/relationships/notesMaster" Target="/ppt/notesMasters/notesMaster1.xml" Id="Rb133cd3141d047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8fde9e71a64d70" /><Relationship Type="http://schemas.openxmlformats.org/officeDocument/2006/relationships/notesMaster" Target="/ppt/notesMasters/notesMaster1.xml" Id="R5903e2c3273f4f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3d998016f248b8" /><Relationship Type="http://schemas.openxmlformats.org/officeDocument/2006/relationships/notesMaster" Target="/ppt/notesMasters/notesMaster1.xml" Id="R97f041d7eb7e43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279772404741dc" /><Relationship Type="http://schemas.openxmlformats.org/officeDocument/2006/relationships/notesMaster" Target="/ppt/notesMasters/notesMaster1.xml" Id="Rb88bea36975a4c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56bba91daa4ad5" /><Relationship Type="http://schemas.openxmlformats.org/officeDocument/2006/relationships/notesMaster" Target="/ppt/notesMasters/notesMaster1.xml" Id="Rc57daa68bbb942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fcf89042c044653" /><Relationship Type="http://schemas.openxmlformats.org/officeDocument/2006/relationships/notesMaster" Target="/ppt/notesMasters/notesMaster1.xml" Id="R0f1b3492c0ac44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ab82c6c54b4d55" /><Relationship Type="http://schemas.openxmlformats.org/officeDocument/2006/relationships/notesMaster" Target="/ppt/notesMasters/notesMaster1.xml" Id="R08ffc7a345144e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d0219a6ffe43dd" /><Relationship Type="http://schemas.openxmlformats.org/officeDocument/2006/relationships/notesMaster" Target="/ppt/notesMasters/notesMaster1.xml" Id="Rac1a7ac7075f43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77d1fced7743cf" /><Relationship Type="http://schemas.openxmlformats.org/officeDocument/2006/relationships/notesMaster" Target="/ppt/notesMasters/notesMaster1.xml" Id="Rad2e2bd068ac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1분기 매출 점검</a:t>
            </a:r>
          </a:p>
          <a:p xmlns:a="http://schemas.openxmlformats.org/drawingml/2006/main">
            <a:r>
              <a:t>대상 기간은 2026년 1~3월입니다.</a:t>
            </a:r>
          </a:p>
          <a:p xmlns:a="http://schemas.openxmlformats.org/drawingml/2006/main">
            <a:r>
              <a:t>단위는 만원이며 모든 수치는 학습용 가상 자료입니다.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보고 목적</a:t>
            </a:r>
          </a:p>
          <a:p xmlns:a="http://schemas.openxmlformats.org/drawingml/2006/main">
            <a:r>
              <a:t>월별 매출과 제품별 구성, 확인할 거래를 함께 살펴봅니다.</a:t>
            </a:r>
          </a:p>
          <a:p xmlns:a="http://schemas.openxmlformats.org/drawingml/2006/main">
            <a:r>
              <a:t>실적과 다음 분기 제안을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집계 범위</a:t>
            </a:r>
          </a:p>
          <a:p xmlns:a="http://schemas.openxmlformats.org/drawingml/2006/main">
            <a:r>
              <a:t>1분기 매출 합계는 4,500만원입니다.</a:t>
            </a:r>
          </a:p>
          <a:p xmlns:a="http://schemas.openxmlformats.org/drawingml/2006/main">
            <a:r>
              <a:t>전년 자료와 비용 자료는 제공하지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1월 매출</a:t>
            </a:r>
          </a:p>
          <a:p xmlns:a="http://schemas.openxmlformats.org/drawingml/2006/main">
            <a:r>
              <a:t>1월 매출은 1,200만원입니다.</a:t>
            </a:r>
          </a:p>
          <a:p xmlns:a="http://schemas.openxmlformats.org/drawingml/2006/main">
            <a:r>
              <a:t>월별 합계 비교의 시작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2월 매출</a:t>
            </a:r>
          </a:p>
          <a:p xmlns:a="http://schemas.openxmlformats.org/drawingml/2006/main">
            <a:r>
              <a:t>2월 매출은 1,500만원입니다.</a:t>
            </a:r>
          </a:p>
          <a:p xmlns:a="http://schemas.openxmlformats.org/drawingml/2006/main">
            <a:r>
              <a:t>1월보다 300만원 많습니다.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3월 매출</a:t>
            </a:r>
          </a:p>
          <a:p xmlns:a="http://schemas.openxmlformats.org/drawingml/2006/main">
            <a:r>
              <a:t>3월 매출은 1,800만원입니다.</a:t>
            </a:r>
          </a:p>
          <a:p xmlns:a="http://schemas.openxmlformats.org/drawingml/2006/main">
            <a:r>
              <a:t>2월보다 300만원 많고 세 달 합계는 4,500만원입니다.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제품 A</a:t>
            </a:r>
          </a:p>
          <a:p xmlns:a="http://schemas.openxmlformats.org/drawingml/2006/main">
            <a:r>
              <a:t>제품 A의 1분기 매출은 2,400만원입니다.</a:t>
            </a:r>
          </a:p>
          <a:p xmlns:a="http://schemas.openxmlformats.org/drawingml/2006/main">
            <a:r>
              <a:t>제품 가운데 가장 큰 매출입니다.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제품 B</a:t>
            </a:r>
          </a:p>
          <a:p xmlns:a="http://schemas.openxmlformats.org/drawingml/2006/main">
            <a:r>
              <a:t>제품 B의 1분기 매출은 1,500만원입니다.</a:t>
            </a:r>
          </a:p>
          <a:p xmlns:a="http://schemas.openxmlformats.org/drawingml/2006/main">
            <a:r>
              <a:t>제품별 비교는 같은 기간과 단위를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제품 C</a:t>
            </a:r>
          </a:p>
          <a:p xmlns:a="http://schemas.openxmlformats.org/drawingml/2006/main">
            <a:r>
              <a:t>제품 C의 1분기 매출은 600만원입니다.</a:t>
            </a:r>
          </a:p>
          <a:p xmlns:a="http://schemas.openxmlformats.org/drawingml/2006/main">
            <a:r>
              <a:t>A·B·C 합계는 4,500만원입니다.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고객 분류</a:t>
            </a:r>
          </a:p>
          <a:p xmlns:a="http://schemas.openxmlformats.org/drawingml/2006/main">
            <a:r>
              <a:t>신규 고객 매출은 1,000만원입니다.</a:t>
            </a:r>
          </a:p>
          <a:p xmlns:a="http://schemas.openxmlformats.org/drawingml/2006/main">
            <a:r>
              <a:t>기존 고객 매출은 3,500만원입니다.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고객 분류 기준</a:t>
            </a:r>
          </a:p>
          <a:p xmlns:a="http://schemas.openxmlformats.org/drawingml/2006/main">
            <a:r>
              <a:t>이번 가상 자료에서는 첫 거래 분기가 1분기이면 신규입니다.</a:t>
            </a:r>
          </a:p>
          <a:p xmlns:a="http://schemas.openxmlformats.org/drawingml/2006/main">
            <a:r>
              <a:t>그 이전 거래가 있으면 기존으로 분류합니다.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고객 자료의 한계</a:t>
            </a:r>
          </a:p>
          <a:p xmlns:a="http://schemas.openxmlformats.org/drawingml/2006/main">
            <a:r>
              <a:t>고객별 명세와 고객 수는 제공하지 않습니다.</a:t>
            </a:r>
          </a:p>
          <a:p xmlns:a="http://schemas.openxmlformats.org/drawingml/2006/main">
            <a:r>
              <a:t>위험 고객 기준과 위험 고객 수는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반품 반영</a:t>
            </a:r>
          </a:p>
          <a:p xmlns:a="http://schemas.openxmlformats.org/drawingml/2006/main">
            <a:r>
              <a:t>확정 반품 100만원을 3월 매출에서 이미 차감했습니다.</a:t>
            </a:r>
          </a:p>
          <a:p xmlns:a="http://schemas.openxmlformats.org/drawingml/2006/main">
            <a:r>
              <a:t>분기 합계에서 같은 반품을 다시 빼지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확인 대상 거래</a:t>
            </a:r>
          </a:p>
          <a:p xmlns:a="http://schemas.openxmlformats.org/drawingml/2006/main">
            <a:r>
              <a:t>큰 금액 거래 1건을 추가 확인할 계획입니다.</a:t>
            </a:r>
          </a:p>
          <a:p xmlns:a="http://schemas.openxmlformats.org/drawingml/2006/main">
            <a:r>
              <a:t>금액과 거래 번호는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금액 판단 원칙</a:t>
            </a:r>
          </a:p>
          <a:p xmlns:a="http://schemas.openxmlformats.org/drawingml/2006/main">
            <a:r>
              <a:t>큰 금액이라는 이유만으로 오류로 확정하지 않습니다.</a:t>
            </a:r>
          </a:p>
          <a:p xmlns:a="http://schemas.openxmlformats.org/drawingml/2006/main">
            <a:r>
              <a:t>정정이 확정되면 새 집계 버전을 만듭니다.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현재 작성 과정</a:t>
            </a:r>
          </a:p>
          <a:p xmlns:a="http://schemas.openxmlformats.org/drawingml/2006/main">
            <a:r>
              <a:t>자료 취합 뒤 사람이 월별 합계를 계산합니다.</a:t>
            </a:r>
          </a:p>
          <a:p xmlns:a="http://schemas.openxmlformats.org/drawingml/2006/main">
            <a:r>
              <a:t>보고서 문장은 합계 확인 후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현재 검토 과정</a:t>
            </a:r>
          </a:p>
          <a:p xmlns:a="http://schemas.openxmlformats.org/drawingml/2006/main">
            <a:r>
              <a:t>작성 담당과 검토 담당을 나누는 안을 제안합니다.</a:t>
            </a:r>
          </a:p>
          <a:p xmlns:a="http://schemas.openxmlformats.org/drawingml/2006/main">
            <a:r>
              <a:t>담당자 이름과 승인 일정은 아직 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원본 보관</a:t>
            </a:r>
          </a:p>
          <a:p xmlns:a="http://schemas.openxmlformats.org/drawingml/2006/main">
            <a:r>
              <a:t>가상 입력 자료는 유지하고 복사본에서 연습합니다.</a:t>
            </a:r>
          </a:p>
          <a:p xmlns:a="http://schemas.openxmlformats.org/drawingml/2006/main">
            <a:r>
              <a:t>수정한 파일은 다른 이름으로 저장합니다.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자동화 시험 범위</a:t>
            </a:r>
          </a:p>
          <a:p xmlns:a="http://schemas.openxmlformats.org/drawingml/2006/main">
            <a:r>
              <a:t>월별 합계와 누락값 목록 생성을 먼저 시험하는 안입니다.</a:t>
            </a:r>
          </a:p>
          <a:p xmlns:a="http://schemas.openxmlformats.org/drawingml/2006/main">
            <a:r>
              <a:t>실제 도입 여부는 아직 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자동화 제외 범위</a:t>
            </a:r>
          </a:p>
          <a:p xmlns:a="http://schemas.openxmlformats.org/drawingml/2006/main">
            <a:r>
              <a:t>이번 제안에는 외부 전송과 원본 삭제를 포함하지 않습니다.</a:t>
            </a:r>
          </a:p>
          <a:p xmlns:a="http://schemas.openxmlformats.org/drawingml/2006/main">
            <a:r>
              <a:t>자동 결재도 범위에서 제외합니다.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시험 성공 기준</a:t>
            </a:r>
          </a:p>
          <a:p xmlns:a="http://schemas.openxmlformats.org/drawingml/2006/main">
            <a:r>
              <a:t>원본 합계와 결과 합계가 일치하는지 확인합니다.</a:t>
            </a:r>
          </a:p>
          <a:p xmlns:a="http://schemas.openxmlformats.org/drawingml/2006/main">
            <a:r>
              <a:t>누락값을 0으로 바꾸지 않는지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다음 분기 첫 단계</a:t>
            </a:r>
          </a:p>
          <a:p xmlns:a="http://schemas.openxmlformats.org/drawingml/2006/main">
            <a:r>
              <a:t>1주차에 입력 양식과 확인 기준을 정하는 안입니다.</a:t>
            </a:r>
          </a:p>
          <a:p xmlns:a="http://schemas.openxmlformats.org/drawingml/2006/main">
            <a:r>
              <a:t>실제 착수일은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다음 분기 두 번째 단계</a:t>
            </a:r>
          </a:p>
          <a:p xmlns:a="http://schemas.openxmlformats.org/drawingml/2006/main">
            <a:r>
              <a:t>2주차에 복사본으로 계산을 시험하는 안입니다.</a:t>
            </a:r>
          </a:p>
          <a:p xmlns:a="http://schemas.openxmlformats.org/drawingml/2006/main">
            <a:r>
              <a:t>담당 인원과 시험 데이터 양은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다음 분기 세 번째 단계</a:t>
            </a:r>
          </a:p>
          <a:p xmlns:a="http://schemas.openxmlformats.org/drawingml/2006/main">
            <a:r>
              <a:t>3주차에 사람이 결과를 대조하는 안입니다.</a:t>
            </a:r>
          </a:p>
          <a:p xmlns:a="http://schemas.openxmlformats.org/drawingml/2006/main">
            <a:r>
              <a:t>최종 승인자와 완료일은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자료 누락 리스크</a:t>
            </a:r>
          </a:p>
          <a:p xmlns:a="http://schemas.openxmlformats.org/drawingml/2006/main">
            <a:r>
              <a:t>입력 자료가 누락되면 합계를 확정할 수 없습니다.</a:t>
            </a:r>
          </a:p>
          <a:p xmlns:a="http://schemas.openxmlformats.org/drawingml/2006/main">
            <a:r>
              <a:t>누락 항목을 따로 표시하고 담당자에게 확인하는 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중복 계산 리스크</a:t>
            </a:r>
          </a:p>
          <a:p xmlns:a="http://schemas.openxmlformats.org/drawingml/2006/main">
            <a:r>
              <a:t>반품을 두 번 차감하면 매출을 과소 집계합니다.</a:t>
            </a:r>
          </a:p>
          <a:p xmlns:a="http://schemas.openxmlformats.org/drawingml/2006/main">
            <a:r>
              <a:t>원본의 반품 반영 여부를 먼저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보안과 운영 범위</a:t>
            </a:r>
          </a:p>
          <a:p xmlns:a="http://schemas.openxmlformats.org/drawingml/2006/main">
            <a:r>
              <a:t>실습에는 가상 자료만 사용합니다.</a:t>
            </a:r>
          </a:p>
          <a:p xmlns:a="http://schemas.openxmlformats.org/drawingml/2006/main">
            <a:r>
              <a:t>업무 적용에 필요한 내부 규정은 별도로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확인된 결과</a:t>
            </a:r>
          </a:p>
          <a:p xmlns:a="http://schemas.openxmlformats.org/drawingml/2006/main">
            <a:r>
              <a:t>월별 매출은 1,200·1,500·1,800만원입니다.</a:t>
            </a:r>
          </a:p>
          <a:p xmlns:a="http://schemas.openxmlformats.org/drawingml/2006/main">
            <a:r>
              <a:t>제품별 매출은 2,400·1,500·600만원입니다.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아직 모르는 것</a:t>
            </a:r>
          </a:p>
          <a:p xmlns:a="http://schemas.openxmlformats.org/drawingml/2006/main">
            <a:r>
              <a:t>전년 비교, 이익, 위험 고객 수는 확인 필요입니다.</a:t>
            </a:r>
          </a:p>
          <a:p xmlns:a="http://schemas.openxmlformats.org/drawingml/2006/main">
            <a:r>
              <a:t>자동화 절감 시간과 도입 비용도 확인 필요입니다.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it! Codex 실습용 가상 자료입니다. 실제 회사 실적이 아닙니다.</a:t>
            </a:r>
          </a:p>
          <a:p xmlns:a="http://schemas.openxmlformats.org/drawingml/2006/main">
            <a:r>
              <a:t>의사결정 요청</a:t>
            </a:r>
          </a:p>
          <a:p xmlns:a="http://schemas.openxmlformats.org/drawingml/2006/main">
            <a:r>
              <a:t>복사본으로 합계 계산을 시험할지 검토합니다.</a:t>
            </a:r>
          </a:p>
          <a:p xmlns:a="http://schemas.openxmlformats.org/drawingml/2006/main">
            <a:r>
              <a:t>담당자와 착수일을 확인한 뒤 실행 계획을 확정합니다.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91474fd504d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e4c8620ac422b" /><Relationship Type="http://schemas.openxmlformats.org/officeDocument/2006/relationships/slideLayout" Target="/ppt/slideLayouts/slideLayout1.xml" Id="Rba549ff346f6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549ff346f6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48743fb2c4273" /><Relationship Type="http://schemas.openxmlformats.org/officeDocument/2006/relationships/notesSlide" Target="/ppt/notesSlides/notesSlide1.xml" Id="Re55abf033fa5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3fb3de63e4ba8" /><Relationship Type="http://schemas.openxmlformats.org/officeDocument/2006/relationships/notesSlide" Target="/ppt/notesSlides/notesSlide2.xml" Id="R7e0fa95b2fef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5d6f5458415d" /><Relationship Type="http://schemas.openxmlformats.org/officeDocument/2006/relationships/notesSlide" Target="/ppt/notesSlides/notesSlide3.xml" Id="Rd1437188c8ea4c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06db6d2b43f0" /><Relationship Type="http://schemas.openxmlformats.org/officeDocument/2006/relationships/notesSlide" Target="/ppt/notesSlides/notesSlide4.xml" Id="R9535c1615577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24c3c8a9d4358" /><Relationship Type="http://schemas.openxmlformats.org/officeDocument/2006/relationships/notesSlide" Target="/ppt/notesSlides/notesSlide5.xml" Id="R3315d3228edd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f7c6b00bb4608" /><Relationship Type="http://schemas.openxmlformats.org/officeDocument/2006/relationships/notesSlide" Target="/ppt/notesSlides/notesSlide6.xml" Id="R45b82f655a464f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a16b63a8947a3" /><Relationship Type="http://schemas.openxmlformats.org/officeDocument/2006/relationships/notesSlide" Target="/ppt/notesSlides/notesSlide7.xml" Id="R26f7a6614c944a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a1b93c62e4533" /><Relationship Type="http://schemas.openxmlformats.org/officeDocument/2006/relationships/notesSlide" Target="/ppt/notesSlides/notesSlide8.xml" Id="R4deb69d656b348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547167f2a4cce" /><Relationship Type="http://schemas.openxmlformats.org/officeDocument/2006/relationships/notesSlide" Target="/ppt/notesSlides/notesSlide9.xml" Id="R38c355120b97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eb9d11b1a48cc" /><Relationship Type="http://schemas.openxmlformats.org/officeDocument/2006/relationships/notesSlide" Target="/ppt/notesSlides/notesSlide10.xml" Id="R82691f82e68744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947061cbb4ec0" /><Relationship Type="http://schemas.openxmlformats.org/officeDocument/2006/relationships/notesSlide" Target="/ppt/notesSlides/notesSlide11.xml" Id="R97a026ffaa3a4c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6660985e34c0d" /><Relationship Type="http://schemas.openxmlformats.org/officeDocument/2006/relationships/notesSlide" Target="/ppt/notesSlides/notesSlide12.xml" Id="R1d8d737c025645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b8151cded4047" /><Relationship Type="http://schemas.openxmlformats.org/officeDocument/2006/relationships/notesSlide" Target="/ppt/notesSlides/notesSlide13.xml" Id="Re5264018df8547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b12ca55424905" /><Relationship Type="http://schemas.openxmlformats.org/officeDocument/2006/relationships/notesSlide" Target="/ppt/notesSlides/notesSlide14.xml" Id="R9600fde6fb634e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b928dfdfc4c38" /><Relationship Type="http://schemas.openxmlformats.org/officeDocument/2006/relationships/notesSlide" Target="/ppt/notesSlides/notesSlide15.xml" Id="R8d16c9c5ad0640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76db626f40b0" /><Relationship Type="http://schemas.openxmlformats.org/officeDocument/2006/relationships/notesSlide" Target="/ppt/notesSlides/notesSlide16.xml" Id="Ra07b25f5916241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1a3fe4901425c" /><Relationship Type="http://schemas.openxmlformats.org/officeDocument/2006/relationships/notesSlide" Target="/ppt/notesSlides/notesSlide17.xml" Id="Rd3b005d3b41041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cf77d584472e" /><Relationship Type="http://schemas.openxmlformats.org/officeDocument/2006/relationships/notesSlide" Target="/ppt/notesSlides/notesSlide18.xml" Id="Re4e126ec11d846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b2ee8dbb94344" /><Relationship Type="http://schemas.openxmlformats.org/officeDocument/2006/relationships/notesSlide" Target="/ppt/notesSlides/notesSlide19.xml" Id="Reed0fceac6ad4a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5c836c23748df" /><Relationship Type="http://schemas.openxmlformats.org/officeDocument/2006/relationships/notesSlide" Target="/ppt/notesSlides/notesSlide20.xml" Id="R7b1e1228394d4f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5874722654874" /><Relationship Type="http://schemas.openxmlformats.org/officeDocument/2006/relationships/notesSlide" Target="/ppt/notesSlides/notesSlide21.xml" Id="Rfe20a97e3ca949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b07cc392a4ae5" /><Relationship Type="http://schemas.openxmlformats.org/officeDocument/2006/relationships/notesSlide" Target="/ppt/notesSlides/notesSlide22.xml" Id="Ra14272f0f58c4a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28ae761f94841" /><Relationship Type="http://schemas.openxmlformats.org/officeDocument/2006/relationships/notesSlide" Target="/ppt/notesSlides/notesSlide23.xml" Id="R521d5f12ebf443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2985e1de4d9d" /><Relationship Type="http://schemas.openxmlformats.org/officeDocument/2006/relationships/notesSlide" Target="/ppt/notesSlides/notesSlide24.xml" Id="Re58ed26855334a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5ddc83ac4477" /><Relationship Type="http://schemas.openxmlformats.org/officeDocument/2006/relationships/notesSlide" Target="/ppt/notesSlides/notesSlide25.xml" Id="R551f4c5323ec4f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63998a3ad475b" /><Relationship Type="http://schemas.openxmlformats.org/officeDocument/2006/relationships/notesSlide" Target="/ppt/notesSlides/notesSlide26.xml" Id="Rbdab05a2daba46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b77d8fb0f4386" /><Relationship Type="http://schemas.openxmlformats.org/officeDocument/2006/relationships/notesSlide" Target="/ppt/notesSlides/notesSlide27.xml" Id="Rf76d4331cddd43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0abdb2a7410e" /><Relationship Type="http://schemas.openxmlformats.org/officeDocument/2006/relationships/notesSlide" Target="/ppt/notesSlides/notesSlide28.xml" Id="Rdc5d75e0f2294d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89938f1c4e87" /><Relationship Type="http://schemas.openxmlformats.org/officeDocument/2006/relationships/notesSlide" Target="/ppt/notesSlides/notesSlide29.xml" Id="Rf3b513206b364e2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ced3c58b6483e" /><Relationship Type="http://schemas.openxmlformats.org/officeDocument/2006/relationships/notesSlide" Target="/ppt/notesSlides/notesSlide30.xml" Id="R2b234833471a45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B7351-3F23-46A3-A517-D4386EA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1분기 매출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1BACE-9357-4B83-BC6B-829C775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대상 기간은 2026년 1~3월입니다.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C03EF-B2A0-447E-87DF-25A7ED99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단위는 만원이며 모든 수치는 학습용 가상 자료입니다.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265D0-3F43-4D98-B0B9-2BA5F863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</a:t>
            </a:r>
          </a:p>
        </p:txBody>
      </p:sp>
    </p:spTree>
    <p:extLst>
      <p:ext uri="{BB962C8B-B14F-4D97-AF65-F5344CB8AC3E}">
        <p14:creationId xmlns:p14="http://schemas.microsoft.com/office/powerpoint/2010/main" val="1778299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8BDA9-8921-4E63-A7D0-B34A1F2B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보고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3C55A-7942-41F1-A2EE-767A190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월별 매출과 제품별 구성, 확인할 거래를 함께 살펴봅니다.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A361F-DA7E-412B-AF27-A71903D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실적과 다음 분기 제안을 구분합니다.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62913-A090-4A84-8F15-7328463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</a:t>
            </a:r>
          </a:p>
        </p:txBody>
      </p:sp>
    </p:spTree>
    <p:extLst>
      <p:ext uri="{BB962C8B-B14F-4D97-AF65-F5344CB8AC3E}">
        <p14:creationId xmlns:p14="http://schemas.microsoft.com/office/powerpoint/2010/main" val="145728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B00F-1395-448C-A3A6-526FCC9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집계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C4994-D560-4514-96CD-0FB277D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1분기 매출 합계는 4,500만원입니다.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D7444-632E-425C-925D-38EDEE7A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전년 자료와 비용 자료는 제공하지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BF465-885A-401F-943F-2604431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3</a:t>
            </a:r>
          </a:p>
        </p:txBody>
      </p:sp>
    </p:spTree>
    <p:extLst>
      <p:ext uri="{BB962C8B-B14F-4D97-AF65-F5344CB8AC3E}">
        <p14:creationId xmlns:p14="http://schemas.microsoft.com/office/powerpoint/2010/main" val="340942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1F832-53FE-45B0-994B-307BECC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1월 매출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C2FBD-0734-4029-8B24-0714D59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1월 매출은 1,200만원입니다.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25CEA-F4B7-4429-BBE6-BAE3EACF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월별 합계 비교의 시작 값입니다.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D28E5-52DC-4EE6-8A2A-C4F83824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4</a:t>
            </a:r>
          </a:p>
        </p:txBody>
      </p:sp>
    </p:spTree>
    <p:extLst>
      <p:ext uri="{BB962C8B-B14F-4D97-AF65-F5344CB8AC3E}">
        <p14:creationId xmlns:p14="http://schemas.microsoft.com/office/powerpoint/2010/main" val="1205738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78429-06C6-4924-B615-C7967C28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2월 매출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943CF-74E0-418B-816B-2165E92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2월 매출은 1,500만원입니다.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2994A-8056-4F0A-84EB-5A3D7D7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1월보다 300만원 많습니다.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E3535-3318-4C42-897D-39802D1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5</a:t>
            </a:r>
          </a:p>
        </p:txBody>
      </p:sp>
    </p:spTree>
    <p:extLst>
      <p:ext uri="{BB962C8B-B14F-4D97-AF65-F5344CB8AC3E}">
        <p14:creationId xmlns:p14="http://schemas.microsoft.com/office/powerpoint/2010/main" val="734755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55AC-F4F2-45D3-BD3D-D06C212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3월 매출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C307-888C-44E4-8A7C-C3B9DB04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3월 매출은 1,800만원입니다.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6821B-0148-403D-9718-7AACE0B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2월보다 300만원 많고 세 달 합계는 4,500만원입니다.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67DB3-2E51-4F63-A7EB-8A8427B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6</a:t>
            </a:r>
          </a:p>
        </p:txBody>
      </p:sp>
    </p:spTree>
    <p:extLst>
      <p:ext uri="{BB962C8B-B14F-4D97-AF65-F5344CB8AC3E}">
        <p14:creationId xmlns:p14="http://schemas.microsoft.com/office/powerpoint/2010/main" val="1636389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18A74-D148-4846-90DF-A422A62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제품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28F7-71A8-40EF-AC9E-2E40982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제품 A의 1분기 매출은 2,400만원입니다.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6A1C8-4ED5-43A0-AEB8-EA4B7445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제품 가운데 가장 큰 매출입니다.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F5799-E919-43A7-B96A-F99E262C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7</a:t>
            </a:r>
          </a:p>
        </p:txBody>
      </p:sp>
    </p:spTree>
    <p:extLst>
      <p:ext uri="{BB962C8B-B14F-4D97-AF65-F5344CB8AC3E}">
        <p14:creationId xmlns:p14="http://schemas.microsoft.com/office/powerpoint/2010/main" val="2075689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81110-5871-4F8B-AD6E-49843EC9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제품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B0E37-6201-47B3-8E87-2B1EBD9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제품 B의 1분기 매출은 1,500만원입니다.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5D3D9-011D-41D5-ACA6-9E6953B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제품별 비교는 같은 기간과 단위를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7697-4FD1-4248-BBE8-B9EFD5C4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8</a:t>
            </a:r>
          </a:p>
        </p:txBody>
      </p:sp>
    </p:spTree>
    <p:extLst>
      <p:ext uri="{BB962C8B-B14F-4D97-AF65-F5344CB8AC3E}">
        <p14:creationId xmlns:p14="http://schemas.microsoft.com/office/powerpoint/2010/main" val="480156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6C2E9-E4FB-4119-959A-452DB3D4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제품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E44F4-51EF-42FB-807C-4CC0682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제품 C의 1분기 매출은 600만원입니다.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7B0FD-3E0F-48C0-8182-1068525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A·B·C 합계는 4,500만원입니다.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49574-6709-4127-8FAD-A4F5BCEE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9</a:t>
            </a:r>
          </a:p>
        </p:txBody>
      </p:sp>
    </p:spTree>
    <p:extLst>
      <p:ext uri="{BB962C8B-B14F-4D97-AF65-F5344CB8AC3E}">
        <p14:creationId xmlns:p14="http://schemas.microsoft.com/office/powerpoint/2010/main" val="149695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5019D-B878-4693-BC5E-144084E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고객 분류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C4CEF-1362-4361-8727-E77D851C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신규 고객 매출은 1,000만원입니다.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E50E1-982F-4202-B275-ABAC3AB2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기존 고객 매출은 3,500만원입니다.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2E400-9819-44EB-80C8-0EE4689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10</a:t>
            </a:r>
          </a:p>
        </p:txBody>
      </p:sp>
    </p:spTree>
    <p:extLst>
      <p:ext uri="{BB962C8B-B14F-4D97-AF65-F5344CB8AC3E}">
        <p14:creationId xmlns:p14="http://schemas.microsoft.com/office/powerpoint/2010/main" val="871137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8A77C-352A-402E-A434-3D204F87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고객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6FA9B-7888-429B-A956-2A05DF73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이번 가상 자료에서는 첫 거래 분기가 1분기이면 신규입니다.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37785-6AE0-479D-814A-987EF32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그 이전 거래가 있으면 기존으로 분류합니다.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39127-633C-48CD-B022-8BF0BA93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11</a:t>
            </a:r>
          </a:p>
        </p:txBody>
      </p:sp>
    </p:spTree>
    <p:extLst>
      <p:ext uri="{BB962C8B-B14F-4D97-AF65-F5344CB8AC3E}">
        <p14:creationId xmlns:p14="http://schemas.microsoft.com/office/powerpoint/2010/main" val="1900191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14C63-2CAC-4A82-97B7-961CA2E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고객 자료의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55921-760C-4F05-8F76-17FB581A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고객별 명세와 고객 수는 제공하지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22718-1A43-4F40-B111-49B6D5F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위험 고객 기준과 위험 고객 수는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62D79-596C-4A71-B1FB-65AC45C9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12</a:t>
            </a:r>
          </a:p>
        </p:txBody>
      </p:sp>
    </p:spTree>
    <p:extLst>
      <p:ext uri="{BB962C8B-B14F-4D97-AF65-F5344CB8AC3E}">
        <p14:creationId xmlns:p14="http://schemas.microsoft.com/office/powerpoint/2010/main" val="1786444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6BC06-C010-4D7F-96D9-764956E8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반품 반영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69DC-FBA6-4EBC-B7F8-DD1571A0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확정 반품 100만원을 3월 매출에서 이미 차감했습니다.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B3C16-375F-4560-9A1F-1A8544D3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분기 합계에서 같은 반품을 다시 빼지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C08C-07AA-4DA2-B696-3CBAECE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13</a:t>
            </a:r>
          </a:p>
        </p:txBody>
      </p:sp>
    </p:spTree>
    <p:extLst>
      <p:ext uri="{BB962C8B-B14F-4D97-AF65-F5344CB8AC3E}">
        <p14:creationId xmlns:p14="http://schemas.microsoft.com/office/powerpoint/2010/main" val="1541459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9338-5FD0-45B0-90A4-AA09DB02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확인 대상 거래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E0EC6-8F1C-4EAB-81F2-59CA59F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큰 금액 거래 1건을 추가 확인할 계획입니다.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9C1DD-20C2-4481-8048-5262B2A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금액과 거래 번호는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61631-9E4F-4873-ADA7-F4AC0019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14</a:t>
            </a:r>
          </a:p>
        </p:txBody>
      </p:sp>
    </p:spTree>
    <p:extLst>
      <p:ext uri="{BB962C8B-B14F-4D97-AF65-F5344CB8AC3E}">
        <p14:creationId xmlns:p14="http://schemas.microsoft.com/office/powerpoint/2010/main" val="524422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595A3-E455-4CDD-8BB4-1F7A268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금액 판단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06124-D8BD-40D6-9581-40F6EF6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큰 금액이라는 이유만으로 오류로 확정하지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9EEC1-E164-44BB-B85D-9D2F20A4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정정이 확정되면 새 집계 버전을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8D5A9-911C-41B4-9971-EA2B809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15</a:t>
            </a:r>
          </a:p>
        </p:txBody>
      </p:sp>
    </p:spTree>
    <p:extLst>
      <p:ext uri="{BB962C8B-B14F-4D97-AF65-F5344CB8AC3E}">
        <p14:creationId xmlns:p14="http://schemas.microsoft.com/office/powerpoint/2010/main" val="1022803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B090A-CCCF-4047-A1AD-5BF25CE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현재 작성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C6D9C-9EC6-44FF-AA70-6D1D396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자료 취합 뒤 사람이 월별 합계를 계산합니다.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2F40C-650D-4E6E-86EA-B5E91DE3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보고서 문장은 합계 확인 후 작성합니다.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6A3B4-86BF-420C-A22E-8CE0E17B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16</a:t>
            </a:r>
          </a:p>
        </p:txBody>
      </p:sp>
    </p:spTree>
    <p:extLst>
      <p:ext uri="{BB962C8B-B14F-4D97-AF65-F5344CB8AC3E}">
        <p14:creationId xmlns:p14="http://schemas.microsoft.com/office/powerpoint/2010/main" val="12826044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1D3AE-1C35-4F8B-A143-0DA2FCA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현재 검토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1BF89-2E7B-4DD2-B760-D2E563F9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작성 담당과 검토 담당을 나누는 안을 제안합니다.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93032-BCE9-440C-9A70-159D773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담당자 이름과 승인 일정은 아직 정하지 않았습니다.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056E1-271A-46D4-B677-CB5C397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17</a:t>
            </a:r>
          </a:p>
        </p:txBody>
      </p:sp>
    </p:spTree>
    <p:extLst>
      <p:ext uri="{BB962C8B-B14F-4D97-AF65-F5344CB8AC3E}">
        <p14:creationId xmlns:p14="http://schemas.microsoft.com/office/powerpoint/2010/main" val="242507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4246F-52C0-4169-A6A1-D45B8E6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원본 보관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62396-240F-4B6F-8676-C938C6A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가상 입력 자료는 유지하고 복사본에서 연습합니다.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D2A3E-A890-478F-BCB6-E7A2CCA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수정한 파일은 다른 이름으로 저장합니다.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8DAFF-E375-45E0-B087-8FB47C8B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18</a:t>
            </a:r>
          </a:p>
        </p:txBody>
      </p:sp>
    </p:spTree>
    <p:extLst>
      <p:ext uri="{BB962C8B-B14F-4D97-AF65-F5344CB8AC3E}">
        <p14:creationId xmlns:p14="http://schemas.microsoft.com/office/powerpoint/2010/main" val="8184701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9DA1-1753-4F56-A8FA-30F171E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자동화 시험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060B9-DB28-4428-BE65-68D5401F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월별 합계와 누락값 목록 생성을 먼저 시험하는 안입니다.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BDE73-B6F4-484F-9002-9AFC7CF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실제 도입 여부는 아직 결정하지 않았습니다.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1C52-375E-4D72-BD8C-717BF11B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19</a:t>
            </a:r>
          </a:p>
        </p:txBody>
      </p:sp>
    </p:spTree>
    <p:extLst>
      <p:ext uri="{BB962C8B-B14F-4D97-AF65-F5344CB8AC3E}">
        <p14:creationId xmlns:p14="http://schemas.microsoft.com/office/powerpoint/2010/main" val="10810124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4779-D7E4-40BF-A759-0350DB0A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자동화 제외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A00F0-8041-4D27-8AF6-65AB093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이번 제안에는 외부 전송과 원본 삭제를 포함하지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9CE5D-F472-4B56-A589-78709395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자동 결재도 범위에서 제외합니다.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81BEA-3AC0-4139-9490-A94A441F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20</a:t>
            </a:r>
          </a:p>
        </p:txBody>
      </p:sp>
    </p:spTree>
    <p:extLst>
      <p:ext uri="{BB962C8B-B14F-4D97-AF65-F5344CB8AC3E}">
        <p14:creationId xmlns:p14="http://schemas.microsoft.com/office/powerpoint/2010/main" val="14204639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A62F-CACE-49D5-96DC-A3256FE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시험 성공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15EB-7CDA-4941-A898-3A149A2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원본 합계와 결과 합계가 일치하는지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AD9A6-10FC-47EB-A118-DEC6B4A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누락값을 0으로 바꾸지 않는지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D08A6-52DC-45D0-AFFA-FD90343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21</a:t>
            </a:r>
          </a:p>
        </p:txBody>
      </p:sp>
    </p:spTree>
    <p:extLst>
      <p:ext uri="{BB962C8B-B14F-4D97-AF65-F5344CB8AC3E}">
        <p14:creationId xmlns:p14="http://schemas.microsoft.com/office/powerpoint/2010/main" val="583849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B2373-3C5B-47B9-B8C4-3AE2CF94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다음 분기 첫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61527-CB78-44F5-9D5C-57B78CF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1주차에 입력 양식과 확인 기준을 정하는 안입니다.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6164E-7A31-4CDD-863A-38D1C20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실제 착수일은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0225F-F013-4E6E-82A6-D9EE4524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22</a:t>
            </a:r>
          </a:p>
        </p:txBody>
      </p:sp>
    </p:spTree>
    <p:extLst>
      <p:ext uri="{BB962C8B-B14F-4D97-AF65-F5344CB8AC3E}">
        <p14:creationId xmlns:p14="http://schemas.microsoft.com/office/powerpoint/2010/main" val="2660372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4FAF8-9578-4C34-BE09-F7FF947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다음 분기 두 번째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ECA88-A11A-4D9B-9107-1103703F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2주차에 복사본으로 계산을 시험하는 안입니다.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5E618-64EC-43C7-805D-761B343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담당 인원과 시험 데이터 양은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DD538-E657-485F-B3FC-C3E3395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23</a:t>
            </a:r>
          </a:p>
        </p:txBody>
      </p:sp>
    </p:spTree>
    <p:extLst>
      <p:ext uri="{BB962C8B-B14F-4D97-AF65-F5344CB8AC3E}">
        <p14:creationId xmlns:p14="http://schemas.microsoft.com/office/powerpoint/2010/main" val="5088735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EA088-46B0-4DDE-9D18-858633C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다음 분기 세 번째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BC474-78E4-4676-9668-07703B4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3주차에 사람이 결과를 대조하는 안입니다.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4EC2C-B529-410D-A51F-ACAF4EDC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최종 승인자와 완료일은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2353A-B625-48BF-AF03-1CFAEAB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24</a:t>
            </a:r>
          </a:p>
        </p:txBody>
      </p:sp>
    </p:spTree>
    <p:extLst>
      <p:ext uri="{BB962C8B-B14F-4D97-AF65-F5344CB8AC3E}">
        <p14:creationId xmlns:p14="http://schemas.microsoft.com/office/powerpoint/2010/main" val="19607720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72E09-50C8-4CBF-82AC-19092A1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자료 누락 리스크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1E57-62C2-4636-94A2-0E2FCC0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입력 자료가 누락되면 합계를 확정할 수 없습니다.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CC45-2F24-4E7F-8B40-54D96CAE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누락 항목을 따로 표시하고 담당자에게 확인하는 안입니다.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3D1DC-4199-43DD-B34E-6559C355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25</a:t>
            </a:r>
          </a:p>
        </p:txBody>
      </p:sp>
    </p:spTree>
    <p:extLst>
      <p:ext uri="{BB962C8B-B14F-4D97-AF65-F5344CB8AC3E}">
        <p14:creationId xmlns:p14="http://schemas.microsoft.com/office/powerpoint/2010/main" val="17245245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D0C8B-1386-4F8F-95CD-0D33F131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중복 계산 리스크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991EE-9EA1-4329-A829-80714E6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반품을 두 번 차감하면 매출을 과소 집계합니다.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FA8B7-15E8-4F68-AB40-C508627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원본의 반품 반영 여부를 먼저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BAE75-9047-4F2C-BABD-AF4A501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26</a:t>
            </a:r>
          </a:p>
        </p:txBody>
      </p:sp>
    </p:spTree>
    <p:extLst>
      <p:ext uri="{BB962C8B-B14F-4D97-AF65-F5344CB8AC3E}">
        <p14:creationId xmlns:p14="http://schemas.microsoft.com/office/powerpoint/2010/main" val="17893642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B63E-6E18-4F02-B95B-847952D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보안과 운영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36DF6-22C6-4CE9-8C61-6205659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실습에는 가상 자료만 사용합니다.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7EFE6-746F-43FA-8D5B-950AFC32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업무 적용에 필요한 내부 규정은 별도로 확인해야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01C8D-679C-4777-A30D-25628FB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27</a:t>
            </a:r>
          </a:p>
        </p:txBody>
      </p:sp>
    </p:spTree>
    <p:extLst>
      <p:ext uri="{BB962C8B-B14F-4D97-AF65-F5344CB8AC3E}">
        <p14:creationId xmlns:p14="http://schemas.microsoft.com/office/powerpoint/2010/main" val="12886324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E1D9B-557B-447E-B81D-46B41EF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확인된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3FBF-78BF-46AA-9C6C-000A253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월별 매출은 1,200·1,500·1,800만원입니다.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E9033-0A7C-4E9E-9365-32B6DB09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제품별 매출은 2,400·1,500·600만원입니다.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50E9-72F4-4492-AACC-9F35CE8D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28</a:t>
            </a:r>
          </a:p>
        </p:txBody>
      </p:sp>
    </p:spTree>
    <p:extLst>
      <p:ext uri="{BB962C8B-B14F-4D97-AF65-F5344CB8AC3E}">
        <p14:creationId xmlns:p14="http://schemas.microsoft.com/office/powerpoint/2010/main" val="12622932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D8929-AAE4-441E-A0E1-218B9A8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아직 모르는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A5A5-43AF-4123-893E-1139128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전년 비교, 이익, 위험 고객 수는 확인 필요입니다.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4AC52-CEB7-4ADD-A232-E8386FD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자동화 절감 시간과 도입 비용도 확인 필요입니다.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3BA68-0B47-4D6B-99DF-83970A2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29</a:t>
            </a:r>
          </a:p>
        </p:txBody>
      </p:sp>
    </p:spTree>
    <p:extLst>
      <p:ext uri="{BB962C8B-B14F-4D97-AF65-F5344CB8AC3E}">
        <p14:creationId xmlns:p14="http://schemas.microsoft.com/office/powerpoint/2010/main" val="7425250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5B9F8-BE30-42DB-818C-3908C492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63846"/>
                </a:solidFill>
                <a:latin typeface="Malgun Gothic"/>
                <a:ea typeface="Malgun Gothic"/>
                <a:cs typeface="Malgun Gothic"/>
              </a:rPr>
              <a:t>의사결정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F9A9C-86DA-4321-8EEF-E128DAC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53944"/>
                </a:solidFill>
                <a:latin typeface="Malgun Gothic"/>
                <a:ea typeface="Malgun Gothic"/>
                <a:cs typeface="Malgun Gothic"/>
              </a:rPr>
              <a:t>복사본으로 합계 계산을 시험할지 검토합니다.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5D34E-5818-471D-8AB1-FE49A356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E5864"/>
                </a:solidFill>
                <a:latin typeface="Malgun Gothic"/>
                <a:ea typeface="Malgun Gothic"/>
                <a:cs typeface="Malgun Gothic"/>
              </a:rPr>
              <a:t>담당자와 착수일을 확인한 뒤 실행 계획을 확정합니다.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38F45-0ADA-4CFF-AFA4-B8F5E34B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717B"/>
                </a:solidFill>
                <a:latin typeface="Malgun Gothic"/>
                <a:ea typeface="Malgun Gothic"/>
                <a:cs typeface="Malgun Gothic"/>
              </a:rPr>
              <a:t>학습용 가상 자료  /  2026년 1분기  /  30</a:t>
            </a:r>
          </a:p>
        </p:txBody>
      </p:sp>
    </p:spTree>
    <p:extLst>
      <p:ext uri="{BB962C8B-B14F-4D97-AF65-F5344CB8AC3E}">
        <p14:creationId xmlns:p14="http://schemas.microsoft.com/office/powerpoint/2010/main" val="1647762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2026-09-05T08:06:47.0560000Z</dcterms:created>
  <dcterms:modified xsi:type="dcterms:W3CDTF">2026-09-05T08:06:47.0560000Z</dcterms:modified>
</coreProperties>
</file>