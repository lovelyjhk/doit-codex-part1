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110C1-0DDF-7795-7D06-7936B754E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033DA1-E3BB-4311-411C-B7B1FED89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2B98F9-BF39-ACBA-2493-B346B6AF6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99118E-0F46-28E2-3E80-9CBCFD06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E8EF0-8F6D-F50E-044D-96D40312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70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6FCE8-5999-AB86-C734-835465EC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E3067-37E4-CDE5-24D0-3CA5BDDEE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A0B6BE-69EE-2D34-15DD-4F05A8DE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A7228-2ECB-6BA1-8F63-F1341608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71850-3922-03D5-544A-0D99DEBE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401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6823D-AD4E-AA82-19E8-D4275FA58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1A6A6-B836-BCD9-3E59-0D2265455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47E8A6-8434-BE16-A278-821101F4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361AB-676B-F628-C2BA-E4107154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08F790-4D5F-82EA-95E6-CB570055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01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7129E-CDF8-BE91-ABDA-F092E5FD8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F61ED1-760E-70F4-ABE0-FBF7D652F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56EE27-F824-3760-52D0-2C50F9889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88E435-3270-317C-10CB-30624B43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F7A7E5-3251-575F-53E2-789CEB99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467FB0-06D2-2377-76C0-DDCC7B93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65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606A0-F2B0-A2A1-C3CD-76FB4F8E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D45CD5-81B2-B777-9CC4-6BAC172F4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C51C62-BA9C-B6FC-4066-A94D7D0D4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15E648-AE2F-DAB3-744A-6D987B440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FFA474-008C-3FD1-8B38-1E5EC6DA7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0D1B08-AF50-D533-E8DC-442CE1CD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B73ADC-0731-EFF8-AD5B-59AF9467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D20ADE-BCAE-0E50-FB70-63C5C4E7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07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6BEAE-5CB0-4D08-D266-A9F6EC44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429FE9-8657-D512-CE1F-C6008CC0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F4BF2F-8E61-B4F4-421D-24FD78B23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F1C340-66A8-2BCF-357C-BAE05F2F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89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D88966-0050-C935-9714-B8AFB2CE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27B7EB-00BA-4E0D-C8B5-421CF7A0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28719-92F6-5E01-21F7-4D182786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52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5A010-E8D8-92B8-B6BB-726AAA1E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9930D-FA9A-2937-D25F-70D5F3418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5879F4-CF2B-0A72-4B6B-D58434AC2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319F3-42A5-06AE-73A0-8B7FC799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F0692-74EC-2B15-7120-BBD524DB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B20A86-B643-34D6-4C30-BC761ADC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08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F1BD7-75FB-3DF2-CC3A-1323EEF83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96F2E7-A911-7BD7-3A47-028381EC1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A9C03B-F3BC-B9B3-891D-9670AFB18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2B1D1D-456D-B12F-919D-5253C101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5D00C3-EF65-EE11-D2E2-A4DC364B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9931B6-D608-B581-08D9-B2B9EC00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7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0CEC8-E02B-BCCE-F642-2541355A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8360F-5421-E4BC-4046-BFA4D4036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CDF995-13CA-C5B5-7239-3D0443CD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2A3238-D763-4125-6D86-7A053CE8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88512B-AE79-13AD-140A-5FFAAFAC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46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EC1131-2572-16F3-B4EC-296C2E907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5F37A0-9278-2861-A6A5-F4BD34437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C8DA50-66A9-6288-DFD4-B910077E8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68686-C77C-1991-6D0D-8C5B7E3C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23B430-CABA-F040-2A42-C957E3D8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55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156FA0-8408-179D-604D-8FC229DE5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977C61-4D23-E2B5-C7B2-D94BE892A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D960E-F02E-6DE3-F6E8-E1B12AF21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8BB2C-ACE8-424A-8F33-F25062E0B75D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2D5688-DCAF-30F4-DA08-20A50B1EA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5D0A9-3F2E-9E55-22F1-287F6A803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666F9-A8AC-4ACE-8709-EFD5BC5A82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35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D50DBCA8-BEAD-ACD5-2110-DE5214A381B1}"/>
              </a:ext>
            </a:extLst>
          </p:cNvPr>
          <p:cNvSpPr txBox="1"/>
          <p:nvPr/>
        </p:nvSpPr>
        <p:spPr>
          <a:xfrm>
            <a:off x="393700" y="381000"/>
            <a:ext cx="381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공식 자료로 배우는</a:t>
            </a:r>
          </a:p>
        </p:txBody>
      </p:sp>
      <p:sp>
        <p:nvSpPr>
          <p:cNvPr id="3" name="chapter">
            <a:extLst>
              <a:ext uri="{FF2B5EF4-FFF2-40B4-BE49-F238E27FC236}">
                <a16:creationId xmlns:a16="http://schemas.microsoft.com/office/drawing/2014/main" id="{0D7D992A-4058-F84B-7E50-D9896CC4365A}"/>
              </a:ext>
            </a:extLst>
          </p:cNvPr>
          <p:cNvSpPr txBox="1"/>
          <p:nvPr/>
        </p:nvSpPr>
        <p:spPr>
          <a:xfrm>
            <a:off x="9271000" y="381000"/>
            <a:ext cx="254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 it! </a:t>
            </a:r>
            <a:r>
              <a:rPr lang="ko-KR" altLang="en-US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</a:t>
            </a:r>
            <a:r>
              <a:rPr lang="en-US" altLang="ko-KR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endParaRPr lang="ko-KR" altLang="en-US" sz="16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DA824C1-D0A1-8279-A769-5928367C82DA}"/>
              </a:ext>
            </a:extLst>
          </p:cNvPr>
          <p:cNvSpPr txBox="1"/>
          <p:nvPr/>
        </p:nvSpPr>
        <p:spPr>
          <a:xfrm>
            <a:off x="393700" y="3619500"/>
            <a:ext cx="9652000" cy="160043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5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한국의 세계유산
</a:t>
            </a:r>
            <a:r>
              <a:rPr lang="en-US" altLang="ko-KR" sz="5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5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곳을 읽는 법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3CC2B4FB-3B7A-79FD-7E8A-094511A05C39}"/>
              </a:ext>
            </a:extLst>
          </p:cNvPr>
          <p:cNvSpPr txBox="1"/>
          <p:nvPr/>
        </p:nvSpPr>
        <p:spPr>
          <a:xfrm>
            <a:off x="393700" y="5765800"/>
            <a:ext cx="838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수집일</a:t>
            </a:r>
            <a:r>
              <a:rPr lang="en-US" altLang="ko-KR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확인일을 나누어 기록합니다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94515F47-E774-E8E1-4B19-4B6A14EF7596}"/>
              </a:ext>
            </a:extLst>
          </p:cNvPr>
          <p:cNvSpPr txBox="1"/>
          <p:nvPr/>
        </p:nvSpPr>
        <p:spPr>
          <a:xfrm>
            <a:off x="11303000" y="62484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0769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D06F64-22F2-630F-D38B-EEE8EA72DDE6}"/>
              </a:ext>
            </a:extLst>
          </p:cNvPr>
          <p:cNvSpPr txBox="1"/>
          <p:nvPr/>
        </p:nvSpPr>
        <p:spPr>
          <a:xfrm>
            <a:off x="393700" y="342900"/>
            <a:ext cx="889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쉬운 설명보다 먼저 근거를 고정합니다</a:t>
            </a:r>
          </a:p>
        </p:txBody>
      </p:sp>
      <p:sp>
        <p:nvSpPr>
          <p:cNvPr id="3" name="item1">
            <a:extLst>
              <a:ext uri="{FF2B5EF4-FFF2-40B4-BE49-F238E27FC236}">
                <a16:creationId xmlns:a16="http://schemas.microsoft.com/office/drawing/2014/main" id="{0DC498F5-AED1-1A37-1358-B92CC0915DDF}"/>
              </a:ext>
            </a:extLst>
          </p:cNvPr>
          <p:cNvSpPr txBox="1"/>
          <p:nvPr/>
        </p:nvSpPr>
        <p:spPr>
          <a:xfrm>
            <a:off x="393700" y="1244600"/>
            <a:ext cx="787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</a:t>
            </a:r>
            <a:r>
              <a:rPr lang="ko-KR" altLang="en-US" sz="2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공식 데이터 페이지를 엽니다</a:t>
            </a:r>
          </a:p>
        </p:txBody>
      </p:sp>
      <p:sp>
        <p:nvSpPr>
          <p:cNvPr id="4" name="label1">
            <a:extLst>
              <a:ext uri="{FF2B5EF4-FFF2-40B4-BE49-F238E27FC236}">
                <a16:creationId xmlns:a16="http://schemas.microsoft.com/office/drawing/2014/main" id="{2B8F3571-C8AA-7FB4-A9F1-3812DCD6C20E}"/>
              </a:ext>
            </a:extLst>
          </p:cNvPr>
          <p:cNvSpPr txBox="1"/>
          <p:nvPr/>
        </p:nvSpPr>
        <p:spPr>
          <a:xfrm>
            <a:off x="9969500" y="1244600"/>
            <a:ext cx="177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b="1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0CE28A-C5C2-570B-FB6E-02132447581A}"/>
              </a:ext>
            </a:extLst>
          </p:cNvPr>
          <p:cNvSpPr/>
          <p:nvPr/>
        </p:nvSpPr>
        <p:spPr>
          <a:xfrm>
            <a:off x="393700" y="1943100"/>
            <a:ext cx="11353800" cy="12700"/>
          </a:xfrm>
          <a:prstGeom prst="rect">
            <a:avLst/>
          </a:prstGeom>
          <a:solidFill>
            <a:srgbClr val="C4BC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item2">
            <a:extLst>
              <a:ext uri="{FF2B5EF4-FFF2-40B4-BE49-F238E27FC236}">
                <a16:creationId xmlns:a16="http://schemas.microsoft.com/office/drawing/2014/main" id="{B4F60AED-B3A0-54E3-A6B8-B3784BB593BC}"/>
              </a:ext>
            </a:extLst>
          </p:cNvPr>
          <p:cNvSpPr txBox="1"/>
          <p:nvPr/>
        </p:nvSpPr>
        <p:spPr>
          <a:xfrm>
            <a:off x="393700" y="2286000"/>
            <a:ext cx="787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</a:t>
            </a:r>
            <a:r>
              <a:rPr lang="ko-KR" altLang="en-US" sz="2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사용할 행을 저자가 직접 고릅니다</a:t>
            </a:r>
          </a:p>
        </p:txBody>
      </p:sp>
      <p:sp>
        <p:nvSpPr>
          <p:cNvPr id="7" name="label2">
            <a:extLst>
              <a:ext uri="{FF2B5EF4-FFF2-40B4-BE49-F238E27FC236}">
                <a16:creationId xmlns:a16="http://schemas.microsoft.com/office/drawing/2014/main" id="{9B16CB91-2B7F-18D4-B750-68EA25CF2ED9}"/>
              </a:ext>
            </a:extLst>
          </p:cNvPr>
          <p:cNvSpPr txBox="1"/>
          <p:nvPr/>
        </p:nvSpPr>
        <p:spPr>
          <a:xfrm>
            <a:off x="9969500" y="2286000"/>
            <a:ext cx="177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b="1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F29DE6-EB31-98B5-E500-F6ADFFF38218}"/>
              </a:ext>
            </a:extLst>
          </p:cNvPr>
          <p:cNvSpPr/>
          <p:nvPr/>
        </p:nvSpPr>
        <p:spPr>
          <a:xfrm>
            <a:off x="393700" y="2984500"/>
            <a:ext cx="11353800" cy="12700"/>
          </a:xfrm>
          <a:prstGeom prst="rect">
            <a:avLst/>
          </a:prstGeom>
          <a:solidFill>
            <a:srgbClr val="C4BC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item3">
            <a:extLst>
              <a:ext uri="{FF2B5EF4-FFF2-40B4-BE49-F238E27FC236}">
                <a16:creationId xmlns:a16="http://schemas.microsoft.com/office/drawing/2014/main" id="{B237B1CE-E7D2-5434-86B4-EC4C431E3C19}"/>
              </a:ext>
            </a:extLst>
          </p:cNvPr>
          <p:cNvSpPr txBox="1"/>
          <p:nvPr/>
        </p:nvSpPr>
        <p:spPr>
          <a:xfrm>
            <a:off x="393700" y="3327400"/>
            <a:ext cx="787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 </a:t>
            </a:r>
            <a:r>
              <a:rPr lang="ko-KR" altLang="en-US" sz="2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문장마다 원문 행과 열을 연결합니다</a:t>
            </a:r>
          </a:p>
        </p:txBody>
      </p:sp>
      <p:sp>
        <p:nvSpPr>
          <p:cNvPr id="10" name="label3">
            <a:extLst>
              <a:ext uri="{FF2B5EF4-FFF2-40B4-BE49-F238E27FC236}">
                <a16:creationId xmlns:a16="http://schemas.microsoft.com/office/drawing/2014/main" id="{D43DE325-A40F-9503-37ED-64E8C997B101}"/>
              </a:ext>
            </a:extLst>
          </p:cNvPr>
          <p:cNvSpPr txBox="1"/>
          <p:nvPr/>
        </p:nvSpPr>
        <p:spPr>
          <a:xfrm>
            <a:off x="9969500" y="3327400"/>
            <a:ext cx="177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b="1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91117A-7AA0-2161-E921-29961584D9AA}"/>
              </a:ext>
            </a:extLst>
          </p:cNvPr>
          <p:cNvSpPr/>
          <p:nvPr/>
        </p:nvSpPr>
        <p:spPr>
          <a:xfrm>
            <a:off x="393700" y="4025900"/>
            <a:ext cx="11353800" cy="12700"/>
          </a:xfrm>
          <a:prstGeom prst="rect">
            <a:avLst/>
          </a:prstGeom>
          <a:solidFill>
            <a:srgbClr val="C4BC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item4">
            <a:extLst>
              <a:ext uri="{FF2B5EF4-FFF2-40B4-BE49-F238E27FC236}">
                <a16:creationId xmlns:a16="http://schemas.microsoft.com/office/drawing/2014/main" id="{33F5B292-EDC0-DCA5-02BD-8FF252F18201}"/>
              </a:ext>
            </a:extLst>
          </p:cNvPr>
          <p:cNvSpPr txBox="1"/>
          <p:nvPr/>
        </p:nvSpPr>
        <p:spPr>
          <a:xfrm>
            <a:off x="393700" y="4368800"/>
            <a:ext cx="787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 </a:t>
            </a:r>
            <a:r>
              <a:rPr lang="ko-KR" altLang="en-US" sz="2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최신 명칭은 공식 화면에서 다시 봅니다</a:t>
            </a:r>
          </a:p>
        </p:txBody>
      </p:sp>
      <p:sp>
        <p:nvSpPr>
          <p:cNvPr id="13" name="label4">
            <a:extLst>
              <a:ext uri="{FF2B5EF4-FFF2-40B4-BE49-F238E27FC236}">
                <a16:creationId xmlns:a16="http://schemas.microsoft.com/office/drawing/2014/main" id="{6EBF45B6-8D9E-018A-A75C-47D941EE4737}"/>
              </a:ext>
            </a:extLst>
          </p:cNvPr>
          <p:cNvSpPr txBox="1"/>
          <p:nvPr/>
        </p:nvSpPr>
        <p:spPr>
          <a:xfrm>
            <a:off x="9969500" y="4368800"/>
            <a:ext cx="177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b="1">
                <a:solidFill>
                  <a:srgbClr val="FF7F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B4BCED-03DF-13AB-F885-F971A9B369C1}"/>
              </a:ext>
            </a:extLst>
          </p:cNvPr>
          <p:cNvSpPr/>
          <p:nvPr/>
        </p:nvSpPr>
        <p:spPr>
          <a:xfrm>
            <a:off x="393700" y="5067300"/>
            <a:ext cx="11353800" cy="12700"/>
          </a:xfrm>
          <a:prstGeom prst="rect">
            <a:avLst/>
          </a:prstGeom>
          <a:solidFill>
            <a:srgbClr val="C4BC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0476526D-7987-0BF5-F259-6240615327CD}"/>
              </a:ext>
            </a:extLst>
          </p:cNvPr>
          <p:cNvSpPr txBox="1"/>
          <p:nvPr/>
        </p:nvSpPr>
        <p:spPr>
          <a:xfrm>
            <a:off x="393700" y="6350000"/>
            <a:ext cx="1041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공공데이터포털 「국가유산청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한국의 유네스코 세계유산 정보」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2026-08-23</a:t>
            </a:r>
            <a:endParaRPr lang="ko-KR" altLang="en-US" sz="9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page">
            <a:extLst>
              <a:ext uri="{FF2B5EF4-FFF2-40B4-BE49-F238E27FC236}">
                <a16:creationId xmlns:a16="http://schemas.microsoft.com/office/drawing/2014/main" id="{1741F260-3C16-E072-D6F6-CBE0952CF1A7}"/>
              </a:ext>
            </a:extLst>
          </p:cNvPr>
          <p:cNvSpPr txBox="1"/>
          <p:nvPr/>
        </p:nvSpPr>
        <p:spPr>
          <a:xfrm>
            <a:off x="11303000" y="6350000"/>
            <a:ext cx="508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477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31322FF8-60CC-E44F-BAF7-12EDB9164269}"/>
              </a:ext>
            </a:extLst>
          </p:cNvPr>
          <p:cNvSpPr txBox="1"/>
          <p:nvPr/>
        </p:nvSpPr>
        <p:spPr>
          <a:xfrm>
            <a:off x="393700" y="3810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세계유산 </a:t>
            </a:r>
            <a:r>
              <a:rPr lang="en-US" altLang="ko-KR" sz="1500" b="1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500" b="1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A847F08-E9EC-3922-09B1-AEBC29893294}"/>
              </a:ext>
            </a:extLst>
          </p:cNvPr>
          <p:cNvSpPr txBox="1"/>
          <p:nvPr/>
        </p:nvSpPr>
        <p:spPr>
          <a:xfrm>
            <a:off x="11303000" y="381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main">
            <a:extLst>
              <a:ext uri="{FF2B5EF4-FFF2-40B4-BE49-F238E27FC236}">
                <a16:creationId xmlns:a16="http://schemas.microsoft.com/office/drawing/2014/main" id="{069A5522-70B6-FD66-4F18-4340DB2D2F64}"/>
              </a:ext>
            </a:extLst>
          </p:cNvPr>
          <p:cNvSpPr txBox="1"/>
          <p:nvPr/>
        </p:nvSpPr>
        <p:spPr>
          <a:xfrm>
            <a:off x="393700" y="1549400"/>
            <a:ext cx="11303000" cy="120032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9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석굴암과 불국사는
건축과 조각을 함께 읽는 유산입니다</a:t>
            </a:r>
          </a:p>
        </p:txBody>
      </p:sp>
      <p:sp>
        <p:nvSpPr>
          <p:cNvPr id="5" name="fact-panel">
            <a:extLst>
              <a:ext uri="{FF2B5EF4-FFF2-40B4-BE49-F238E27FC236}">
                <a16:creationId xmlns:a16="http://schemas.microsoft.com/office/drawing/2014/main" id="{8852C5BA-5F0F-C0A3-5D58-46642F5B0E03}"/>
              </a:ext>
            </a:extLst>
          </p:cNvPr>
          <p:cNvSpPr/>
          <p:nvPr/>
        </p:nvSpPr>
        <p:spPr>
          <a:xfrm>
            <a:off x="393700" y="4191000"/>
            <a:ext cx="11404600" cy="10414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fact1">
            <a:extLst>
              <a:ext uri="{FF2B5EF4-FFF2-40B4-BE49-F238E27FC236}">
                <a16:creationId xmlns:a16="http://schemas.microsoft.com/office/drawing/2014/main" id="{F9A512BE-5DB3-34B6-4532-E0C585D31374}"/>
              </a:ext>
            </a:extLst>
          </p:cNvPr>
          <p:cNvSpPr txBox="1"/>
          <p:nvPr/>
        </p:nvSpPr>
        <p:spPr>
          <a:xfrm>
            <a:off x="635000" y="4406900"/>
            <a:ext cx="5016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통일신라 시대의 불교 문화와 연결됩니다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fact2">
            <a:extLst>
              <a:ext uri="{FF2B5EF4-FFF2-40B4-BE49-F238E27FC236}">
                <a16:creationId xmlns:a16="http://schemas.microsoft.com/office/drawing/2014/main" id="{DD5A3ECA-EA46-7052-0018-5C41E4746557}"/>
              </a:ext>
            </a:extLst>
          </p:cNvPr>
          <p:cNvSpPr txBox="1"/>
          <p:nvPr/>
        </p:nvSpPr>
        <p:spPr>
          <a:xfrm>
            <a:off x="6350000" y="4406900"/>
            <a:ext cx="495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자세한 표현은 공식 원문에서 다시 확인합니다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E9EA8165-5C2F-6844-AF33-E94C1E5F49DA}"/>
              </a:ext>
            </a:extLst>
          </p:cNvPr>
          <p:cNvSpPr txBox="1"/>
          <p:nvPr/>
        </p:nvSpPr>
        <p:spPr>
          <a:xfrm>
            <a:off x="393700" y="6070600"/>
            <a:ext cx="10795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https://whc.unesco.org/en/list/736 ·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수집일 재확인 필요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2026-08-23</a:t>
            </a:r>
            <a:endParaRPr lang="ko-KR" altLang="en-US" sz="9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575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58FA096-0314-EF16-54F6-5A395CF825A5}"/>
              </a:ext>
            </a:extLst>
          </p:cNvPr>
          <p:cNvSpPr txBox="1"/>
          <p:nvPr/>
        </p:nvSpPr>
        <p:spPr>
          <a:xfrm>
            <a:off x="393700" y="342900"/>
            <a:ext cx="1016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종묘는 공간과 의례 전통을 함께 보여 줍니다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3E67D263-6F87-B917-0042-A3EA4E696634}"/>
              </a:ext>
            </a:extLst>
          </p:cNvPr>
          <p:cNvSpPr txBox="1"/>
          <p:nvPr/>
        </p:nvSpPr>
        <p:spPr>
          <a:xfrm>
            <a:off x="393700" y="1117600"/>
            <a:ext cx="889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공식 자료의 범위 안에서 두 가지 핵심만 남겼습니다</a:t>
            </a:r>
            <a:r>
              <a:rPr lang="en-US" altLang="ko-KR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5588BC88-F5DA-F58F-B693-5C9FFAD063D6}"/>
              </a:ext>
            </a:extLst>
          </p:cNvPr>
          <p:cNvSpPr/>
          <p:nvPr/>
        </p:nvSpPr>
        <p:spPr>
          <a:xfrm>
            <a:off x="393700" y="1905000"/>
            <a:ext cx="5397500" cy="31115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A6212439-71EE-FC4D-C7C3-51A0A8F590A5}"/>
              </a:ext>
            </a:extLst>
          </p:cNvPr>
          <p:cNvSpPr/>
          <p:nvPr/>
        </p:nvSpPr>
        <p:spPr>
          <a:xfrm>
            <a:off x="6172200" y="1905000"/>
            <a:ext cx="5626100" cy="31115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left-label">
            <a:extLst>
              <a:ext uri="{FF2B5EF4-FFF2-40B4-BE49-F238E27FC236}">
                <a16:creationId xmlns:a16="http://schemas.microsoft.com/office/drawing/2014/main" id="{F2DA565B-3942-8174-D3B6-0146C38C5BBD}"/>
              </a:ext>
            </a:extLst>
          </p:cNvPr>
          <p:cNvSpPr txBox="1"/>
          <p:nvPr/>
        </p:nvSpPr>
        <p:spPr>
          <a:xfrm>
            <a:off x="673100" y="2209800"/>
            <a:ext cx="381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무엇을 보는가</a:t>
            </a:r>
          </a:p>
        </p:txBody>
      </p:sp>
      <p:sp>
        <p:nvSpPr>
          <p:cNvPr id="7" name="left-main">
            <a:extLst>
              <a:ext uri="{FF2B5EF4-FFF2-40B4-BE49-F238E27FC236}">
                <a16:creationId xmlns:a16="http://schemas.microsoft.com/office/drawing/2014/main" id="{F2A5FCF4-6BBA-C29F-F1D4-F327D018C7F9}"/>
              </a:ext>
            </a:extLst>
          </p:cNvPr>
          <p:cNvSpPr txBox="1"/>
          <p:nvPr/>
        </p:nvSpPr>
        <p:spPr>
          <a:xfrm>
            <a:off x="673100" y="2870200"/>
            <a:ext cx="4318000" cy="12464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조선 왕실의
선대 왕과 왕비를
기리는 공간</a:t>
            </a:r>
          </a:p>
        </p:txBody>
      </p:sp>
      <p:sp>
        <p:nvSpPr>
          <p:cNvPr id="8" name="right-label">
            <a:extLst>
              <a:ext uri="{FF2B5EF4-FFF2-40B4-BE49-F238E27FC236}">
                <a16:creationId xmlns:a16="http://schemas.microsoft.com/office/drawing/2014/main" id="{4964E151-E4A5-CD60-22E0-61362D5B3C7A}"/>
              </a:ext>
            </a:extLst>
          </p:cNvPr>
          <p:cNvSpPr txBox="1"/>
          <p:nvPr/>
        </p:nvSpPr>
        <p:spPr>
          <a:xfrm>
            <a:off x="6451600" y="2209800"/>
            <a:ext cx="381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왜 중요한가</a:t>
            </a:r>
          </a:p>
        </p:txBody>
      </p:sp>
      <p:sp>
        <p:nvSpPr>
          <p:cNvPr id="9" name="right-main">
            <a:extLst>
              <a:ext uri="{FF2B5EF4-FFF2-40B4-BE49-F238E27FC236}">
                <a16:creationId xmlns:a16="http://schemas.microsoft.com/office/drawing/2014/main" id="{BEF962E6-2EFB-C43E-BB55-E11F4378696C}"/>
              </a:ext>
            </a:extLst>
          </p:cNvPr>
          <p:cNvSpPr txBox="1"/>
          <p:nvPr/>
        </p:nvSpPr>
        <p:spPr>
          <a:xfrm>
            <a:off x="6451600" y="3073400"/>
            <a:ext cx="4572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건축과 종묘제례 전통이
한 장소에서 이어집니다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ED4B315D-9A62-7795-72C3-B48DEC116CFF}"/>
              </a:ext>
            </a:extLst>
          </p:cNvPr>
          <p:cNvSpPr txBox="1"/>
          <p:nvPr/>
        </p:nvSpPr>
        <p:spPr>
          <a:xfrm>
            <a:off x="393700" y="6070600"/>
            <a:ext cx="10795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https://whc.unesco.org/en/list/738 ·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수집일 재확인 필요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2026-08-23</a:t>
            </a:r>
            <a:endParaRPr lang="ko-KR" altLang="en-US" sz="9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page">
            <a:extLst>
              <a:ext uri="{FF2B5EF4-FFF2-40B4-BE49-F238E27FC236}">
                <a16:creationId xmlns:a16="http://schemas.microsoft.com/office/drawing/2014/main" id="{C09E8A4D-2B69-2D3A-E4C0-0FA37EB9A592}"/>
              </a:ext>
            </a:extLst>
          </p:cNvPr>
          <p:cNvSpPr txBox="1"/>
          <p:nvPr/>
        </p:nvSpPr>
        <p:spPr>
          <a:xfrm>
            <a:off x="11303000" y="6070600"/>
            <a:ext cx="508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536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BFA1346-A701-315F-B9DE-A60464640B26}"/>
              </a:ext>
            </a:extLst>
          </p:cNvPr>
          <p:cNvSpPr txBox="1"/>
          <p:nvPr/>
        </p:nvSpPr>
        <p:spPr>
          <a:xfrm>
            <a:off x="393700" y="342900"/>
            <a:ext cx="8255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창덕궁은 자연 지형을 살린 궁궐 배치를 보여 줍니다</a:t>
            </a:r>
          </a:p>
        </p:txBody>
      </p:sp>
      <p:sp>
        <p:nvSpPr>
          <p:cNvPr id="3" name="note">
            <a:extLst>
              <a:ext uri="{FF2B5EF4-FFF2-40B4-BE49-F238E27FC236}">
                <a16:creationId xmlns:a16="http://schemas.microsoft.com/office/drawing/2014/main" id="{CCC9547B-C208-5944-0244-D1E4E6D408D1}"/>
              </a:ext>
            </a:extLst>
          </p:cNvPr>
          <p:cNvSpPr txBox="1"/>
          <p:nvPr/>
        </p:nvSpPr>
        <p:spPr>
          <a:xfrm>
            <a:off x="8890000" y="431800"/>
            <a:ext cx="29083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 개의 낱말을 연결해 핵심을 기억해 보세요</a:t>
            </a:r>
            <a:r>
              <a:rPr lang="en-US" altLang="ko-KR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ile1">
            <a:extLst>
              <a:ext uri="{FF2B5EF4-FFF2-40B4-BE49-F238E27FC236}">
                <a16:creationId xmlns:a16="http://schemas.microsoft.com/office/drawing/2014/main" id="{CAC144CE-4148-F9E9-C127-1409439E6B2B}"/>
              </a:ext>
            </a:extLst>
          </p:cNvPr>
          <p:cNvSpPr/>
          <p:nvPr/>
        </p:nvSpPr>
        <p:spPr>
          <a:xfrm>
            <a:off x="393700" y="2032000"/>
            <a:ext cx="2489200" cy="26670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tat1">
            <a:extLst>
              <a:ext uri="{FF2B5EF4-FFF2-40B4-BE49-F238E27FC236}">
                <a16:creationId xmlns:a16="http://schemas.microsoft.com/office/drawing/2014/main" id="{FB2136E4-1615-01BD-EC88-509068CAD3CF}"/>
              </a:ext>
            </a:extLst>
          </p:cNvPr>
          <p:cNvSpPr txBox="1"/>
          <p:nvPr/>
        </p:nvSpPr>
        <p:spPr>
          <a:xfrm>
            <a:off x="622300" y="2387600"/>
            <a:ext cx="2032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9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자연</a:t>
            </a:r>
          </a:p>
        </p:txBody>
      </p:sp>
      <p:sp>
        <p:nvSpPr>
          <p:cNvPr id="6" name="sub1">
            <a:extLst>
              <a:ext uri="{FF2B5EF4-FFF2-40B4-BE49-F238E27FC236}">
                <a16:creationId xmlns:a16="http://schemas.microsoft.com/office/drawing/2014/main" id="{733CD09B-4DAF-C011-470C-537361CCC2AB}"/>
              </a:ext>
            </a:extLst>
          </p:cNvPr>
          <p:cNvSpPr txBox="1"/>
          <p:nvPr/>
        </p:nvSpPr>
        <p:spPr>
          <a:xfrm>
            <a:off x="622300" y="37084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주변 환경</a:t>
            </a:r>
          </a:p>
        </p:txBody>
      </p:sp>
      <p:sp>
        <p:nvSpPr>
          <p:cNvPr id="7" name="tile2">
            <a:extLst>
              <a:ext uri="{FF2B5EF4-FFF2-40B4-BE49-F238E27FC236}">
                <a16:creationId xmlns:a16="http://schemas.microsoft.com/office/drawing/2014/main" id="{0A12CFC7-6F23-A486-0A45-0A307CF041EF}"/>
              </a:ext>
            </a:extLst>
          </p:cNvPr>
          <p:cNvSpPr/>
          <p:nvPr/>
        </p:nvSpPr>
        <p:spPr>
          <a:xfrm>
            <a:off x="3251200" y="2032000"/>
            <a:ext cx="2489200" cy="26670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stat2">
            <a:extLst>
              <a:ext uri="{FF2B5EF4-FFF2-40B4-BE49-F238E27FC236}">
                <a16:creationId xmlns:a16="http://schemas.microsoft.com/office/drawing/2014/main" id="{FA3F9621-2516-A8EC-799A-83C04588BBE5}"/>
              </a:ext>
            </a:extLst>
          </p:cNvPr>
          <p:cNvSpPr txBox="1"/>
          <p:nvPr/>
        </p:nvSpPr>
        <p:spPr>
          <a:xfrm>
            <a:off x="3479800" y="2387600"/>
            <a:ext cx="2032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9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지형</a:t>
            </a:r>
          </a:p>
        </p:txBody>
      </p:sp>
      <p:sp>
        <p:nvSpPr>
          <p:cNvPr id="9" name="sub2">
            <a:extLst>
              <a:ext uri="{FF2B5EF4-FFF2-40B4-BE49-F238E27FC236}">
                <a16:creationId xmlns:a16="http://schemas.microsoft.com/office/drawing/2014/main" id="{2A8D0511-9DD8-7753-A6CD-9F386EB9EBFD}"/>
              </a:ext>
            </a:extLst>
          </p:cNvPr>
          <p:cNvSpPr txBox="1"/>
          <p:nvPr/>
        </p:nvSpPr>
        <p:spPr>
          <a:xfrm>
            <a:off x="3479800" y="37084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땅의 높낮이</a:t>
            </a:r>
          </a:p>
        </p:txBody>
      </p:sp>
      <p:sp>
        <p:nvSpPr>
          <p:cNvPr id="10" name="tile3">
            <a:extLst>
              <a:ext uri="{FF2B5EF4-FFF2-40B4-BE49-F238E27FC236}">
                <a16:creationId xmlns:a16="http://schemas.microsoft.com/office/drawing/2014/main" id="{1C1444B4-2A57-FD2F-7342-C38A99311E2C}"/>
              </a:ext>
            </a:extLst>
          </p:cNvPr>
          <p:cNvSpPr/>
          <p:nvPr/>
        </p:nvSpPr>
        <p:spPr>
          <a:xfrm>
            <a:off x="6108700" y="2032000"/>
            <a:ext cx="2489200" cy="26670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stat3">
            <a:extLst>
              <a:ext uri="{FF2B5EF4-FFF2-40B4-BE49-F238E27FC236}">
                <a16:creationId xmlns:a16="http://schemas.microsoft.com/office/drawing/2014/main" id="{E68CFE73-FF8F-B953-3358-68A9E9D7193E}"/>
              </a:ext>
            </a:extLst>
          </p:cNvPr>
          <p:cNvSpPr txBox="1"/>
          <p:nvPr/>
        </p:nvSpPr>
        <p:spPr>
          <a:xfrm>
            <a:off x="6337300" y="2387600"/>
            <a:ext cx="2032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9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궁궐</a:t>
            </a:r>
          </a:p>
        </p:txBody>
      </p:sp>
      <p:sp>
        <p:nvSpPr>
          <p:cNvPr id="12" name="sub3">
            <a:extLst>
              <a:ext uri="{FF2B5EF4-FFF2-40B4-BE49-F238E27FC236}">
                <a16:creationId xmlns:a16="http://schemas.microsoft.com/office/drawing/2014/main" id="{588165FA-2EC5-79CA-AA94-837F658160A8}"/>
              </a:ext>
            </a:extLst>
          </p:cNvPr>
          <p:cNvSpPr txBox="1"/>
          <p:nvPr/>
        </p:nvSpPr>
        <p:spPr>
          <a:xfrm>
            <a:off x="6337300" y="37084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조선 왕실 공간</a:t>
            </a:r>
          </a:p>
        </p:txBody>
      </p:sp>
      <p:sp>
        <p:nvSpPr>
          <p:cNvPr id="13" name="tile4">
            <a:extLst>
              <a:ext uri="{FF2B5EF4-FFF2-40B4-BE49-F238E27FC236}">
                <a16:creationId xmlns:a16="http://schemas.microsoft.com/office/drawing/2014/main" id="{F30B7016-1DAB-DFD4-08D7-AF80B6765865}"/>
              </a:ext>
            </a:extLst>
          </p:cNvPr>
          <p:cNvSpPr/>
          <p:nvPr/>
        </p:nvSpPr>
        <p:spPr>
          <a:xfrm>
            <a:off x="8966200" y="2032000"/>
            <a:ext cx="2489200" cy="26670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stat4">
            <a:extLst>
              <a:ext uri="{FF2B5EF4-FFF2-40B4-BE49-F238E27FC236}">
                <a16:creationId xmlns:a16="http://schemas.microsoft.com/office/drawing/2014/main" id="{08B85B75-3BBD-37ED-112C-113690ED625B}"/>
              </a:ext>
            </a:extLst>
          </p:cNvPr>
          <p:cNvSpPr txBox="1"/>
          <p:nvPr/>
        </p:nvSpPr>
        <p:spPr>
          <a:xfrm>
            <a:off x="9194800" y="2387600"/>
            <a:ext cx="2032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900" b="1">
                <a:solidFill>
                  <a:srgbClr val="FF7F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배치</a:t>
            </a:r>
          </a:p>
        </p:txBody>
      </p:sp>
      <p:sp>
        <p:nvSpPr>
          <p:cNvPr id="15" name="sub4">
            <a:extLst>
              <a:ext uri="{FF2B5EF4-FFF2-40B4-BE49-F238E27FC236}">
                <a16:creationId xmlns:a16="http://schemas.microsoft.com/office/drawing/2014/main" id="{D47359A3-C605-CE7B-11C1-DBCD8A6186DC}"/>
              </a:ext>
            </a:extLst>
          </p:cNvPr>
          <p:cNvSpPr txBox="1"/>
          <p:nvPr/>
        </p:nvSpPr>
        <p:spPr>
          <a:xfrm>
            <a:off x="9194800" y="37084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조화를 이룬 구성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0CAD8FE1-843C-4D1E-D605-6F2C64EFC5B3}"/>
              </a:ext>
            </a:extLst>
          </p:cNvPr>
          <p:cNvSpPr txBox="1"/>
          <p:nvPr/>
        </p:nvSpPr>
        <p:spPr>
          <a:xfrm>
            <a:off x="393700" y="6070600"/>
            <a:ext cx="10795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https://whc.unesco.org/en/list/816 ·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수집일 재확인 필요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</a:t>
            </a:r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2026-08-23</a:t>
            </a:r>
            <a:endParaRPr lang="ko-KR" altLang="en-US" sz="9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page">
            <a:extLst>
              <a:ext uri="{FF2B5EF4-FFF2-40B4-BE49-F238E27FC236}">
                <a16:creationId xmlns:a16="http://schemas.microsoft.com/office/drawing/2014/main" id="{8ACC6BDF-4A83-719E-86D3-4B947D398DA1}"/>
              </a:ext>
            </a:extLst>
          </p:cNvPr>
          <p:cNvSpPr txBox="1"/>
          <p:nvPr/>
        </p:nvSpPr>
        <p:spPr>
          <a:xfrm>
            <a:off x="11303000" y="6070600"/>
            <a:ext cx="508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734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DB15C4-C308-F204-98BD-FF4C50691838}"/>
              </a:ext>
            </a:extLst>
          </p:cNvPr>
          <p:cNvSpPr txBox="1"/>
          <p:nvPr/>
        </p:nvSpPr>
        <p:spPr>
          <a:xfrm>
            <a:off x="393700" y="342900"/>
            <a:ext cx="4572000" cy="95410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발표보다 먼저 네 가지를 확인하세요</a:t>
            </a:r>
          </a:p>
        </p:txBody>
      </p:sp>
      <p:sp>
        <p:nvSpPr>
          <p:cNvPr id="3" name="check1">
            <a:extLst>
              <a:ext uri="{FF2B5EF4-FFF2-40B4-BE49-F238E27FC236}">
                <a16:creationId xmlns:a16="http://schemas.microsoft.com/office/drawing/2014/main" id="{67555352-C809-50EE-991B-D3FECF3A05EE}"/>
              </a:ext>
            </a:extLst>
          </p:cNvPr>
          <p:cNvSpPr txBox="1"/>
          <p:nvPr/>
        </p:nvSpPr>
        <p:spPr>
          <a:xfrm>
            <a:off x="6032500" y="508000"/>
            <a:ext cx="5778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✓  공식 상세 </a:t>
            </a:r>
            <a:r>
              <a:rPr lang="en-US" altLang="ko-KR" sz="2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ko-KR" altLang="en-US" sz="2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있는가</a:t>
            </a:r>
          </a:p>
        </p:txBody>
      </p:sp>
      <p:sp>
        <p:nvSpPr>
          <p:cNvPr id="4" name="check2">
            <a:extLst>
              <a:ext uri="{FF2B5EF4-FFF2-40B4-BE49-F238E27FC236}">
                <a16:creationId xmlns:a16="http://schemas.microsoft.com/office/drawing/2014/main" id="{CD0B2FB1-73F6-199E-7CEC-CD00800BA81A}"/>
              </a:ext>
            </a:extLst>
          </p:cNvPr>
          <p:cNvSpPr txBox="1"/>
          <p:nvPr/>
        </p:nvSpPr>
        <p:spPr>
          <a:xfrm>
            <a:off x="6032500" y="1447800"/>
            <a:ext cx="5778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✓  데이터 수집일과 확인일이 구분되었는가</a:t>
            </a:r>
          </a:p>
        </p:txBody>
      </p:sp>
      <p:sp>
        <p:nvSpPr>
          <p:cNvPr id="5" name="check3">
            <a:extLst>
              <a:ext uri="{FF2B5EF4-FFF2-40B4-BE49-F238E27FC236}">
                <a16:creationId xmlns:a16="http://schemas.microsoft.com/office/drawing/2014/main" id="{02F833F9-D29D-48FA-E9F0-B086BC326529}"/>
              </a:ext>
            </a:extLst>
          </p:cNvPr>
          <p:cNvSpPr txBox="1"/>
          <p:nvPr/>
        </p:nvSpPr>
        <p:spPr>
          <a:xfrm>
            <a:off x="6032500" y="2387600"/>
            <a:ext cx="5778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✓  원문에 없는 관람정보를 만들지 않았는가</a:t>
            </a:r>
          </a:p>
        </p:txBody>
      </p:sp>
      <p:sp>
        <p:nvSpPr>
          <p:cNvPr id="6" name="check4">
            <a:extLst>
              <a:ext uri="{FF2B5EF4-FFF2-40B4-BE49-F238E27FC236}">
                <a16:creationId xmlns:a16="http://schemas.microsoft.com/office/drawing/2014/main" id="{CA27A7ED-F9DF-F814-067E-0C1EC8A3017A}"/>
              </a:ext>
            </a:extLst>
          </p:cNvPr>
          <p:cNvSpPr txBox="1"/>
          <p:nvPr/>
        </p:nvSpPr>
        <p:spPr>
          <a:xfrm>
            <a:off x="6032500" y="3327400"/>
            <a:ext cx="5778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FF7F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✓  사진과 로고의 권리를 확인했는가</a:t>
            </a:r>
          </a:p>
        </p:txBody>
      </p:sp>
      <p:sp>
        <p:nvSpPr>
          <p:cNvPr id="7" name="warning">
            <a:extLst>
              <a:ext uri="{FF2B5EF4-FFF2-40B4-BE49-F238E27FC236}">
                <a16:creationId xmlns:a16="http://schemas.microsoft.com/office/drawing/2014/main" id="{10487383-4967-7143-4FA6-9AD341585169}"/>
              </a:ext>
            </a:extLst>
          </p:cNvPr>
          <p:cNvSpPr/>
          <p:nvPr/>
        </p:nvSpPr>
        <p:spPr>
          <a:xfrm>
            <a:off x="6032500" y="4572000"/>
            <a:ext cx="5778500" cy="1244600"/>
          </a:xfrm>
          <a:prstGeom prst="rect">
            <a:avLst/>
          </a:prstGeom>
          <a:solidFill>
            <a:srgbClr val="F8F8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warning-text">
            <a:extLst>
              <a:ext uri="{FF2B5EF4-FFF2-40B4-BE49-F238E27FC236}">
                <a16:creationId xmlns:a16="http://schemas.microsoft.com/office/drawing/2014/main" id="{DEC2AAAD-9A2A-CB51-DFE5-B1AD7BE9CEA3}"/>
              </a:ext>
            </a:extLst>
          </p:cNvPr>
          <p:cNvSpPr txBox="1"/>
          <p:nvPr/>
        </p:nvSpPr>
        <p:spPr>
          <a:xfrm>
            <a:off x="6286500" y="4851400"/>
            <a:ext cx="52705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7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회성 데이터는 최신 현황이 아닐 수 있습니다</a:t>
            </a:r>
            <a:r>
              <a:rPr lang="en-US" altLang="ko-KR" sz="17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.`n</a:t>
            </a:r>
            <a:r>
              <a:rPr lang="ko-KR" altLang="en-US" sz="17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최신 명칭은 국가유산포털에서 다시 확인하세요</a:t>
            </a:r>
            <a:r>
              <a:rPr lang="en-US" altLang="ko-KR" sz="17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sources">
            <a:extLst>
              <a:ext uri="{FF2B5EF4-FFF2-40B4-BE49-F238E27FC236}">
                <a16:creationId xmlns:a16="http://schemas.microsoft.com/office/drawing/2014/main" id="{592B216C-956E-AE7B-F8AB-E01F8A6D0E7B}"/>
              </a:ext>
            </a:extLst>
          </p:cNvPr>
          <p:cNvSpPr txBox="1"/>
          <p:nvPr/>
        </p:nvSpPr>
        <p:spPr>
          <a:xfrm>
            <a:off x="393700" y="4064000"/>
            <a:ext cx="45720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
공공데이터포털 </a:t>
            </a:r>
            <a:r>
              <a:rPr lang="en-US" altLang="ko-KR" sz="15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data.go.kr/data/15107994
</a:t>
            </a:r>
            <a:r>
              <a:rPr lang="ko-KR" altLang="en-US" sz="15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국가유산포털 </a:t>
            </a:r>
            <a:r>
              <a:rPr lang="en-US" altLang="ko-KR" sz="15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heritage.go.kr</a:t>
            </a:r>
            <a:endParaRPr lang="ko-KR" altLang="en-US" sz="15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page">
            <a:extLst>
              <a:ext uri="{FF2B5EF4-FFF2-40B4-BE49-F238E27FC236}">
                <a16:creationId xmlns:a16="http://schemas.microsoft.com/office/drawing/2014/main" id="{99C4F208-65B2-0435-1318-0FBC6E7BB631}"/>
              </a:ext>
            </a:extLst>
          </p:cNvPr>
          <p:cNvSpPr txBox="1"/>
          <p:nvPr/>
        </p:nvSpPr>
        <p:spPr>
          <a:xfrm>
            <a:off x="11303000" y="6350000"/>
            <a:ext cx="508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555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>
              <a:solidFill>
                <a:srgbClr val="5555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199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사용자 지정</PresentationFormat>
  <Paragraphs>50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진희 김</dc:creator>
  <cp:lastModifiedBy>진희 김</cp:lastModifiedBy>
  <cp:revision>1</cp:revision>
  <dcterms:created xsi:type="dcterms:W3CDTF">2026-08-23T04:53:20Z</dcterms:created>
  <dcterms:modified xsi:type="dcterms:W3CDTF">2026-08-23T04:53:20Z</dcterms:modified>
</cp:coreProperties>
</file>